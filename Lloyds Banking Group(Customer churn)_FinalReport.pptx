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8" r:id="rId6"/>
    <p:sldId id="270" r:id="rId7"/>
    <p:sldId id="260" r:id="rId8"/>
    <p:sldId id="271" r:id="rId9"/>
    <p:sldId id="261" r:id="rId10"/>
    <p:sldId id="262" r:id="rId11"/>
    <p:sldId id="272" r:id="rId12"/>
    <p:sldId id="273" r:id="rId13"/>
    <p:sldId id="274" r:id="rId14"/>
    <p:sldId id="263" r:id="rId15"/>
    <p:sldId id="275" r:id="rId16"/>
    <p:sldId id="276" r:id="rId17"/>
    <p:sldId id="277" r:id="rId18"/>
    <p:sldId id="264" r:id="rId19"/>
    <p:sldId id="278" r:id="rId20"/>
    <p:sldId id="269" r:id="rId21"/>
    <p:sldId id="265" r:id="rId22"/>
    <p:sldId id="266" r:id="rId23"/>
    <p:sldId id="267" r:id="rId24"/>
    <p:sldId id="280" r:id="rId25"/>
    <p:sldId id="281" r:id="rId26"/>
    <p:sldId id="282" r:id="rId27"/>
    <p:sldId id="283" r:id="rId28"/>
    <p:sldId id="295" r:id="rId29"/>
    <p:sldId id="284" r:id="rId30"/>
    <p:sldId id="285" r:id="rId31"/>
    <p:sldId id="286" r:id="rId32"/>
    <p:sldId id="299" r:id="rId33"/>
    <p:sldId id="287" r:id="rId34"/>
    <p:sldId id="288" r:id="rId35"/>
    <p:sldId id="300" r:id="rId36"/>
    <p:sldId id="289" r:id="rId37"/>
    <p:sldId id="301" r:id="rId38"/>
    <p:sldId id="290" r:id="rId39"/>
    <p:sldId id="291" r:id="rId40"/>
    <p:sldId id="296" r:id="rId41"/>
    <p:sldId id="292" r:id="rId42"/>
    <p:sldId id="297" r:id="rId43"/>
    <p:sldId id="293" r:id="rId44"/>
    <p:sldId id="29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DC19F2-043F-436D-A532-C97F1B07D751}"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8FBEA-8E48-4174-A37C-BB180AC3BC28}" type="slidenum">
              <a:rPr lang="en-IN" smtClean="0"/>
              <a:t>‹#›</a:t>
            </a:fld>
            <a:endParaRPr lang="en-IN"/>
          </a:p>
        </p:txBody>
      </p:sp>
    </p:spTree>
    <p:extLst>
      <p:ext uri="{BB962C8B-B14F-4D97-AF65-F5344CB8AC3E}">
        <p14:creationId xmlns:p14="http://schemas.microsoft.com/office/powerpoint/2010/main" val="82716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F78FBEA-8E48-4174-A37C-BB180AC3BC28}" type="slidenum">
              <a:rPr lang="en-IN" smtClean="0"/>
              <a:t>30</a:t>
            </a:fld>
            <a:endParaRPr lang="en-IN"/>
          </a:p>
        </p:txBody>
      </p:sp>
    </p:spTree>
    <p:extLst>
      <p:ext uri="{BB962C8B-B14F-4D97-AF65-F5344CB8AC3E}">
        <p14:creationId xmlns:p14="http://schemas.microsoft.com/office/powerpoint/2010/main" val="833679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6253-725C-B043-FF19-B54BD17D27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33EEB8-5B6A-422F-ED2E-1F4BA09D7D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75FE09-4023-7A96-BBF0-D95EE0C116C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AC9C06D5-A462-A25C-8AA5-6C4E9224DA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09BD5A-C703-AB88-5DC2-D0B2D3985140}"/>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423822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415A-5CAC-A918-8A68-DEBEE4B1A1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8A8A79-ADE8-0454-9BB7-A77A73B214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657D1-7538-B5F4-978D-0C6EF7138F93}"/>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D3CB3AD1-7D94-0802-EB11-CBF5D263F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327B77-AF55-1708-8EA7-7550244063BA}"/>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5731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091D-B3F9-FC6C-CCBE-4480DE6DAE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3379A3-B714-2EF5-6F9A-0B9579D446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41B287-7A7A-5B97-9294-C8BE783B0B02}"/>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D7C73239-CC71-C3D4-3520-72E7D378BF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FCCF2C-4AF2-761B-5F2A-62B22A5A8DD7}"/>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283470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24D4-1469-9468-479B-A6832E358F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BAF50E-94D8-BD30-44EA-FC6E16D3D0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BC0CD2-9003-3DFD-6D14-B8DA308100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10B18E-8A8F-53FA-EB11-B615FE94E5CF}"/>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A24CD70C-C189-0AEE-CF15-BED9C99C8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2B5EE4-68DD-459D-95AB-6D6C88D7E9EF}"/>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31186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2779-16E4-2BC9-4A0D-BC795F5DC6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9DD9E1-F277-D9E6-50AD-0D0B9EEFF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21184B-5862-6DEE-5662-9EF6005DD5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1394EA-C6D4-E5B1-3D9E-48C20E80A6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1F4E58-A292-C085-7206-346D807276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4CC545-85D5-7BEF-6AD8-8B251452A27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8" name="Footer Placeholder 7">
            <a:extLst>
              <a:ext uri="{FF2B5EF4-FFF2-40B4-BE49-F238E27FC236}">
                <a16:creationId xmlns:a16="http://schemas.microsoft.com/office/drawing/2014/main" id="{2366C91B-A7E4-978B-382C-1473AC687B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E81797-20B2-3B23-7D7D-9E56E4994617}"/>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24132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0DBE-45B8-0597-B705-C7BE7E649F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341569-C414-AD38-FD83-C920FAC6EB70}"/>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4" name="Footer Placeholder 3">
            <a:extLst>
              <a:ext uri="{FF2B5EF4-FFF2-40B4-BE49-F238E27FC236}">
                <a16:creationId xmlns:a16="http://schemas.microsoft.com/office/drawing/2014/main" id="{5988EB27-9342-C8A1-AF9D-698C2183B5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F55E67-A7B0-36AE-6323-1653D0A670A8}"/>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312518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DA9915-9243-FD2E-23D8-D0B34AAE9C00}"/>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3" name="Footer Placeholder 2">
            <a:extLst>
              <a:ext uri="{FF2B5EF4-FFF2-40B4-BE49-F238E27FC236}">
                <a16:creationId xmlns:a16="http://schemas.microsoft.com/office/drawing/2014/main" id="{4C563965-0DFA-1A18-A2D2-8133DA7ACD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BEDDBB-C4E9-CF80-9E8B-FC964BD1BD19}"/>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2478410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F627-7890-25EE-706E-86A08BC0A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AB01CE-5F23-AD61-6CCB-AD6D801D6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98FE3E-77F1-73CC-C17A-7A7E9098D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3C1B4-9350-71AE-97FD-ABC371A9F28C}"/>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B0497C56-FE69-84B4-31B0-895084DF84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931046-8A19-4ADE-C3BD-FA63479F9654}"/>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592497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5887E-5F17-B392-1D07-1B99FDAD2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DB9FB2-3932-84DC-54BE-9C46C8327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9E91F0-FD7D-683B-7F95-FFEEC457E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B2B8FE-1F01-E8E1-A96A-A50642AC4D4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38B1AEA0-81E3-D4E1-522A-BA08C87233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70AF25-8CDE-C318-75E7-E5A037A6DDCC}"/>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23465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3FBCE-9505-5E6C-D1DF-BBF76CAEDD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8F1F1C-4B26-30CC-C529-02CD8AD186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AE82B6-0BE5-CFB0-4855-6D4AE097BE5E}"/>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122705CF-4CA4-F3AC-6410-3A422C23F8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CE99F2-8527-EC3A-1215-139C801FE5D9}"/>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73611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AEDCAE-8B99-8D9D-FA58-494A2B30FE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D45D37-5407-F080-0F63-5FFA579CC0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906D4-7E25-D00A-B0A3-4B22ACD1413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5276A243-64B8-F42B-E9DA-DB6B491D0C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BAEC3-FE47-F3EB-3CED-AB41C7AA5B7F}"/>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339614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1CFBE-5552-88AC-B50E-50B1B29482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CB267F-A43F-E3A2-C906-AF56956EB2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12B6A-B911-8ECC-FD08-0FE90E227B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BF2F9A1D-006A-A7B2-EB32-F39A664343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99A911-9765-E500-ACBC-6BD9575D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242B5B-AF68-4672-9BF9-AA9D9225C18C}" type="slidenum">
              <a:rPr lang="en-IN" smtClean="0"/>
              <a:t>‹#›</a:t>
            </a:fld>
            <a:endParaRPr lang="en-IN"/>
          </a:p>
        </p:txBody>
      </p:sp>
    </p:spTree>
    <p:extLst>
      <p:ext uri="{BB962C8B-B14F-4D97-AF65-F5344CB8AC3E}">
        <p14:creationId xmlns:p14="http://schemas.microsoft.com/office/powerpoint/2010/main" val="133921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C64DC-65C8-EBEC-0BD5-CCB7C24CB640}"/>
              </a:ext>
            </a:extLst>
          </p:cNvPr>
          <p:cNvSpPr>
            <a:spLocks noGrp="1"/>
          </p:cNvSpPr>
          <p:nvPr>
            <p:ph type="ctrTitle"/>
          </p:nvPr>
        </p:nvSpPr>
        <p:spPr/>
        <p:txBody>
          <a:bodyPr/>
          <a:lstStyle/>
          <a:p>
            <a:r>
              <a:rPr lang="en-US" b="1" dirty="0">
                <a:latin typeface="+mn-lt"/>
              </a:rPr>
              <a:t>Customer Churn Data Analysis Report</a:t>
            </a:r>
            <a:endParaRPr lang="en-IN" b="1" dirty="0">
              <a:latin typeface="+mn-lt"/>
            </a:endParaRPr>
          </a:p>
        </p:txBody>
      </p:sp>
      <p:sp>
        <p:nvSpPr>
          <p:cNvPr id="3" name="Subtitle 2">
            <a:extLst>
              <a:ext uri="{FF2B5EF4-FFF2-40B4-BE49-F238E27FC236}">
                <a16:creationId xmlns:a16="http://schemas.microsoft.com/office/drawing/2014/main" id="{63E7690F-D800-0686-EC42-DC2215066832}"/>
              </a:ext>
            </a:extLst>
          </p:cNvPr>
          <p:cNvSpPr>
            <a:spLocks noGrp="1"/>
          </p:cNvSpPr>
          <p:nvPr>
            <p:ph type="subTitle" idx="1"/>
          </p:nvPr>
        </p:nvSpPr>
        <p:spPr>
          <a:xfrm>
            <a:off x="1524000" y="4198374"/>
            <a:ext cx="9144000" cy="1059426"/>
          </a:xfrm>
        </p:spPr>
        <p:txBody>
          <a:bodyPr/>
          <a:lstStyle/>
          <a:p>
            <a:r>
              <a:rPr lang="en-US" dirty="0"/>
              <a:t>Task1: Data Gathering, Exploratory Data Analysis, and Data Preparation</a:t>
            </a:r>
            <a:endParaRPr lang="en-IN" dirty="0"/>
          </a:p>
        </p:txBody>
      </p:sp>
    </p:spTree>
    <p:extLst>
      <p:ext uri="{BB962C8B-B14F-4D97-AF65-F5344CB8AC3E}">
        <p14:creationId xmlns:p14="http://schemas.microsoft.com/office/powerpoint/2010/main" val="831808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7423-BE3B-0651-2098-A837055915C7}"/>
              </a:ext>
            </a:extLst>
          </p:cNvPr>
          <p:cNvSpPr>
            <a:spLocks noGrp="1"/>
          </p:cNvSpPr>
          <p:nvPr>
            <p:ph type="title"/>
          </p:nvPr>
        </p:nvSpPr>
        <p:spPr>
          <a:xfrm>
            <a:off x="4060722" y="365125"/>
            <a:ext cx="7293077" cy="1325563"/>
          </a:xfrm>
        </p:spPr>
        <p:txBody>
          <a:bodyPr>
            <a:normAutofit/>
          </a:bodyPr>
          <a:lstStyle/>
          <a:p>
            <a:r>
              <a:rPr lang="en-IN" b="1" dirty="0">
                <a:latin typeface="+mn-lt"/>
              </a:rPr>
              <a:t>Introduction</a:t>
            </a:r>
          </a:p>
        </p:txBody>
      </p:sp>
      <p:sp>
        <p:nvSpPr>
          <p:cNvPr id="3" name="Content Placeholder 2">
            <a:extLst>
              <a:ext uri="{FF2B5EF4-FFF2-40B4-BE49-F238E27FC236}">
                <a16:creationId xmlns:a16="http://schemas.microsoft.com/office/drawing/2014/main" id="{5594D3C8-5A36-865A-0F7C-3E036FFF67B6}"/>
              </a:ext>
            </a:extLst>
          </p:cNvPr>
          <p:cNvSpPr>
            <a:spLocks noGrp="1"/>
          </p:cNvSpPr>
          <p:nvPr>
            <p:ph idx="1"/>
          </p:nvPr>
        </p:nvSpPr>
        <p:spPr/>
        <p:txBody>
          <a:bodyPr/>
          <a:lstStyle/>
          <a:p>
            <a:r>
              <a:rPr lang="en-US" dirty="0"/>
              <a:t>Customer churn is a critical challenge for financial institutions because acquiring new customers is significantly more expensive than retaining existing ones. Predicting churn enables organizations to proactively identify customers who may discontinue services and implement targeted retention strategies.</a:t>
            </a:r>
          </a:p>
          <a:p>
            <a:r>
              <a:rPr lang="en-US" dirty="0"/>
              <a:t>In this project, data analysis techniques were used to explore customer data and prepare it for building a predictive churn model. The objective of this task was to gather relevant datasets, perform exploratory data analysis (EDA), and clean and preprocess the data to ensure it is suitable for machine learning.</a:t>
            </a:r>
          </a:p>
          <a:p>
            <a:pPr marL="0" indent="0">
              <a:buNone/>
            </a:pPr>
            <a:endParaRPr lang="en-IN" dirty="0"/>
          </a:p>
        </p:txBody>
      </p:sp>
    </p:spTree>
    <p:extLst>
      <p:ext uri="{BB962C8B-B14F-4D97-AF65-F5344CB8AC3E}">
        <p14:creationId xmlns:p14="http://schemas.microsoft.com/office/powerpoint/2010/main" val="367901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26ED6-532F-8410-E09B-1EC7BBC30482}"/>
              </a:ext>
            </a:extLst>
          </p:cNvPr>
          <p:cNvSpPr>
            <a:spLocks noGrp="1"/>
          </p:cNvSpPr>
          <p:nvPr>
            <p:ph type="title"/>
          </p:nvPr>
        </p:nvSpPr>
        <p:spPr>
          <a:xfrm>
            <a:off x="2271252" y="365125"/>
            <a:ext cx="9082548" cy="2014282"/>
          </a:xfrm>
        </p:spPr>
        <p:txBody>
          <a:bodyPr/>
          <a:lstStyle/>
          <a:p>
            <a:r>
              <a:rPr lang="en-US" b="1" dirty="0">
                <a:latin typeface="+mn-lt"/>
              </a:rPr>
              <a:t>Data Gathering and Data Sources</a:t>
            </a:r>
            <a:endParaRPr lang="en-IN" b="1" dirty="0">
              <a:latin typeface="+mn-lt"/>
            </a:endParaRPr>
          </a:p>
        </p:txBody>
      </p:sp>
      <p:sp>
        <p:nvSpPr>
          <p:cNvPr id="3" name="Content Placeholder 2">
            <a:extLst>
              <a:ext uri="{FF2B5EF4-FFF2-40B4-BE49-F238E27FC236}">
                <a16:creationId xmlns:a16="http://schemas.microsoft.com/office/drawing/2014/main" id="{B007CCB9-10A7-A00D-1560-E7B1724BDB13}"/>
              </a:ext>
            </a:extLst>
          </p:cNvPr>
          <p:cNvSpPr>
            <a:spLocks noGrp="1"/>
          </p:cNvSpPr>
          <p:nvPr>
            <p:ph idx="1"/>
          </p:nvPr>
        </p:nvSpPr>
        <p:spPr>
          <a:xfrm>
            <a:off x="1307690" y="2379407"/>
            <a:ext cx="10046110" cy="3797556"/>
          </a:xfrm>
        </p:spPr>
        <p:txBody>
          <a:bodyPr/>
          <a:lstStyle/>
          <a:p>
            <a:pPr marL="0" indent="0">
              <a:buNone/>
            </a:pPr>
            <a:r>
              <a:rPr lang="en-US" dirty="0"/>
              <a:t>To understand the factors influencing customer churn, multiple datasets were collected from different sources within the banking system. These datasets provide insights into customer demographics, financial behavior, digital engagement, and service interactions.</a:t>
            </a:r>
            <a:endParaRPr lang="en-IN" dirty="0"/>
          </a:p>
        </p:txBody>
      </p:sp>
    </p:spTree>
    <p:extLst>
      <p:ext uri="{BB962C8B-B14F-4D97-AF65-F5344CB8AC3E}">
        <p14:creationId xmlns:p14="http://schemas.microsoft.com/office/powerpoint/2010/main" val="401213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47396-A0BD-9AA8-3B75-49F6649A0997}"/>
              </a:ext>
            </a:extLst>
          </p:cNvPr>
          <p:cNvSpPr>
            <a:spLocks noGrp="1"/>
          </p:cNvSpPr>
          <p:nvPr>
            <p:ph idx="1"/>
          </p:nvPr>
        </p:nvSpPr>
        <p:spPr>
          <a:xfrm>
            <a:off x="275303" y="570271"/>
            <a:ext cx="11680723" cy="6184489"/>
          </a:xfrm>
        </p:spPr>
        <p:txBody>
          <a:bodyPr>
            <a:noAutofit/>
          </a:bodyPr>
          <a:lstStyle/>
          <a:p>
            <a:r>
              <a:rPr lang="en-US" b="1" dirty="0"/>
              <a:t>Customer Demographics</a:t>
            </a:r>
          </a:p>
          <a:p>
            <a:pPr marL="0" indent="0">
              <a:buNone/>
            </a:pPr>
            <a:r>
              <a:rPr lang="en-US" dirty="0"/>
              <a:t>This dataset contains personal information about customers, including age, gender, marital status, and income level. Demographic attributes often influence customer financial behavior and engagement patterns.</a:t>
            </a:r>
          </a:p>
          <a:p>
            <a:r>
              <a:rPr lang="en-US" b="1" dirty="0"/>
              <a:t>Transaction History</a:t>
            </a:r>
          </a:p>
          <a:p>
            <a:pPr marL="0" indent="0">
              <a:buNone/>
            </a:pPr>
            <a:r>
              <a:rPr lang="en-US" dirty="0"/>
              <a:t>This dataset records customer spending behavior and transaction activity. Transaction data helps identify patterns in financial usage that may indicate disengagement or reduced banking activity.</a:t>
            </a:r>
          </a:p>
          <a:p>
            <a:r>
              <a:rPr lang="en-US" b="1" dirty="0"/>
              <a:t>Customer Service Interactions</a:t>
            </a:r>
          </a:p>
          <a:p>
            <a:pPr marL="0" indent="0">
              <a:buNone/>
            </a:pPr>
            <a:r>
              <a:rPr lang="en-US" dirty="0"/>
              <a:t>This dataset includes records of customer service requests and interactions. Frequent complaints or support requests may indicate dissatisfaction, which can increase the likelihood of churn.</a:t>
            </a:r>
          </a:p>
          <a:p>
            <a:pPr marL="0" indent="0">
              <a:buNone/>
            </a:pPr>
            <a:endParaRPr lang="en-IN" dirty="0"/>
          </a:p>
        </p:txBody>
      </p:sp>
    </p:spTree>
    <p:extLst>
      <p:ext uri="{BB962C8B-B14F-4D97-AF65-F5344CB8AC3E}">
        <p14:creationId xmlns:p14="http://schemas.microsoft.com/office/powerpoint/2010/main" val="1515364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FD2025-02A7-A062-C6DC-7CAFF0626C7A}"/>
              </a:ext>
            </a:extLst>
          </p:cNvPr>
          <p:cNvSpPr>
            <a:spLocks noGrp="1"/>
          </p:cNvSpPr>
          <p:nvPr>
            <p:ph idx="1"/>
          </p:nvPr>
        </p:nvSpPr>
        <p:spPr>
          <a:xfrm>
            <a:off x="838200" y="943897"/>
            <a:ext cx="10515600" cy="5233066"/>
          </a:xfrm>
        </p:spPr>
        <p:txBody>
          <a:bodyPr/>
          <a:lstStyle/>
          <a:p>
            <a:r>
              <a:rPr lang="en-US" b="1" dirty="0"/>
              <a:t>Online Activity</a:t>
            </a:r>
          </a:p>
          <a:p>
            <a:pPr marL="0" indent="0">
              <a:buNone/>
            </a:pPr>
            <a:r>
              <a:rPr lang="en-US" dirty="0"/>
              <a:t>This dataset captures digital engagement metrics such as login frequency and usage of online banking platforms. Customers who interact less frequently with digital services may be more likely to discontinue their relationship with the bank.</a:t>
            </a:r>
          </a:p>
          <a:p>
            <a:r>
              <a:rPr lang="en-US" b="1" dirty="0"/>
              <a:t>Churn Status</a:t>
            </a:r>
          </a:p>
          <a:p>
            <a:pPr marL="0" indent="0">
              <a:buNone/>
            </a:pPr>
            <a:r>
              <a:rPr lang="en-US" dirty="0"/>
              <a:t>This dataset contains the churn label, indicating whether a customer has left the bank's services. It serves as the target variable for predictive modeling. All datasets were integrated using the </a:t>
            </a:r>
            <a:r>
              <a:rPr lang="en-US" b="1" dirty="0" err="1"/>
              <a:t>CustomerID</a:t>
            </a:r>
            <a:r>
              <a:rPr lang="en-US" dirty="0"/>
              <a:t> field to create a unified dataset containing one record per customer.</a:t>
            </a:r>
          </a:p>
          <a:p>
            <a:pPr marL="0" indent="0">
              <a:buNone/>
            </a:pPr>
            <a:endParaRPr lang="en-IN" dirty="0"/>
          </a:p>
        </p:txBody>
      </p:sp>
    </p:spTree>
    <p:extLst>
      <p:ext uri="{BB962C8B-B14F-4D97-AF65-F5344CB8AC3E}">
        <p14:creationId xmlns:p14="http://schemas.microsoft.com/office/powerpoint/2010/main" val="183622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9041AA8-56D0-3F27-7CF0-12FB7870BA1B}"/>
              </a:ext>
            </a:extLst>
          </p:cNvPr>
          <p:cNvPicPr>
            <a:picLocks noGrp="1" noChangeAspect="1"/>
          </p:cNvPicPr>
          <p:nvPr>
            <p:ph idx="1"/>
          </p:nvPr>
        </p:nvPicPr>
        <p:blipFill>
          <a:blip r:embed="rId2"/>
          <a:stretch>
            <a:fillRect/>
          </a:stretch>
        </p:blipFill>
        <p:spPr>
          <a:xfrm>
            <a:off x="0" y="953729"/>
            <a:ext cx="12044516" cy="4375356"/>
          </a:xfrm>
          <a:prstGeom prst="rect">
            <a:avLst/>
          </a:prstGeom>
        </p:spPr>
      </p:pic>
    </p:spTree>
    <p:extLst>
      <p:ext uri="{BB962C8B-B14F-4D97-AF65-F5344CB8AC3E}">
        <p14:creationId xmlns:p14="http://schemas.microsoft.com/office/powerpoint/2010/main" val="314427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B2DB-BDF8-198E-C0D7-9426D4F45958}"/>
              </a:ext>
            </a:extLst>
          </p:cNvPr>
          <p:cNvSpPr>
            <a:spLocks noGrp="1"/>
          </p:cNvSpPr>
          <p:nvPr>
            <p:ph type="title"/>
          </p:nvPr>
        </p:nvSpPr>
        <p:spPr>
          <a:xfrm>
            <a:off x="3824748" y="365125"/>
            <a:ext cx="7529052" cy="1325563"/>
          </a:xfrm>
        </p:spPr>
        <p:txBody>
          <a:bodyPr>
            <a:normAutofit/>
          </a:bodyPr>
          <a:lstStyle/>
          <a:p>
            <a:r>
              <a:rPr lang="en-IN" sz="4800" b="1" dirty="0">
                <a:latin typeface="+mn-lt"/>
              </a:rPr>
              <a:t>Data Integration</a:t>
            </a:r>
          </a:p>
        </p:txBody>
      </p:sp>
      <p:sp>
        <p:nvSpPr>
          <p:cNvPr id="3" name="Content Placeholder 2">
            <a:extLst>
              <a:ext uri="{FF2B5EF4-FFF2-40B4-BE49-F238E27FC236}">
                <a16:creationId xmlns:a16="http://schemas.microsoft.com/office/drawing/2014/main" id="{FB38253C-98EE-3B37-BC97-2C144C6352B9}"/>
              </a:ext>
            </a:extLst>
          </p:cNvPr>
          <p:cNvSpPr>
            <a:spLocks noGrp="1"/>
          </p:cNvSpPr>
          <p:nvPr>
            <p:ph idx="1"/>
          </p:nvPr>
        </p:nvSpPr>
        <p:spPr/>
        <p:txBody>
          <a:bodyPr>
            <a:normAutofit lnSpcReduction="10000"/>
          </a:bodyPr>
          <a:lstStyle/>
          <a:p>
            <a:r>
              <a:rPr lang="en-US" dirty="0"/>
              <a:t>Since customer data was stored across multiple tables, the datasets were merged using the </a:t>
            </a:r>
            <a:r>
              <a:rPr lang="en-US" b="1" dirty="0" err="1"/>
              <a:t>CustomerID</a:t>
            </a:r>
            <a:r>
              <a:rPr lang="en-US" dirty="0"/>
              <a:t> key. This ensured that all relevant customer information was consolidated into a single dataset.</a:t>
            </a:r>
          </a:p>
          <a:p>
            <a:r>
              <a:rPr lang="en-US" dirty="0"/>
              <a:t>Transaction records were aggregated to compute total spending per customer, enabling a clear understanding of each customer's financial activity.</a:t>
            </a:r>
          </a:p>
          <a:p>
            <a:r>
              <a:rPr lang="en-US" dirty="0"/>
              <a:t>After merging the datasets, a unified dataset was created containing demographic attributes, transaction behavior, digital engagement metrics, and churn status.</a:t>
            </a:r>
          </a:p>
          <a:p>
            <a:r>
              <a:rPr lang="en-US" dirty="0"/>
              <a:t>This integrated dataset forms the foundation for exploratory analysis and predictive modeling.</a:t>
            </a:r>
          </a:p>
          <a:p>
            <a:pPr marL="0" indent="0">
              <a:buNone/>
            </a:pPr>
            <a:endParaRPr lang="en-IN" dirty="0"/>
          </a:p>
        </p:txBody>
      </p:sp>
    </p:spTree>
    <p:extLst>
      <p:ext uri="{BB962C8B-B14F-4D97-AF65-F5344CB8AC3E}">
        <p14:creationId xmlns:p14="http://schemas.microsoft.com/office/powerpoint/2010/main" val="493744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EAB6E2-5309-0AD2-B2D7-47F8A3B725F2}"/>
              </a:ext>
            </a:extLst>
          </p:cNvPr>
          <p:cNvPicPr>
            <a:picLocks noGrp="1" noChangeAspect="1"/>
          </p:cNvPicPr>
          <p:nvPr>
            <p:ph idx="1"/>
          </p:nvPr>
        </p:nvPicPr>
        <p:blipFill>
          <a:blip r:embed="rId2"/>
          <a:stretch>
            <a:fillRect/>
          </a:stretch>
        </p:blipFill>
        <p:spPr>
          <a:xfrm>
            <a:off x="250722" y="1435510"/>
            <a:ext cx="11690555" cy="3775588"/>
          </a:xfrm>
          <a:prstGeom prst="rect">
            <a:avLst/>
          </a:prstGeom>
        </p:spPr>
      </p:pic>
    </p:spTree>
    <p:extLst>
      <p:ext uri="{BB962C8B-B14F-4D97-AF65-F5344CB8AC3E}">
        <p14:creationId xmlns:p14="http://schemas.microsoft.com/office/powerpoint/2010/main" val="4000528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9F2B2-0FFE-0CD6-5270-602D1FFC357E}"/>
              </a:ext>
            </a:extLst>
          </p:cNvPr>
          <p:cNvSpPr>
            <a:spLocks noGrp="1"/>
          </p:cNvSpPr>
          <p:nvPr>
            <p:ph type="title"/>
          </p:nvPr>
        </p:nvSpPr>
        <p:spPr>
          <a:xfrm>
            <a:off x="2035276" y="365125"/>
            <a:ext cx="9318523" cy="1325563"/>
          </a:xfrm>
        </p:spPr>
        <p:txBody>
          <a:bodyPr>
            <a:normAutofit/>
          </a:bodyPr>
          <a:lstStyle/>
          <a:p>
            <a:r>
              <a:rPr lang="en-IN" sz="4800" b="1" dirty="0">
                <a:latin typeface="+mn-lt"/>
              </a:rPr>
              <a:t>Exploratory Data Analysis (EDA)</a:t>
            </a:r>
          </a:p>
        </p:txBody>
      </p:sp>
      <p:sp>
        <p:nvSpPr>
          <p:cNvPr id="3" name="Content Placeholder 2">
            <a:extLst>
              <a:ext uri="{FF2B5EF4-FFF2-40B4-BE49-F238E27FC236}">
                <a16:creationId xmlns:a16="http://schemas.microsoft.com/office/drawing/2014/main" id="{F0159D91-23B5-C625-42CB-BFD711493CA8}"/>
              </a:ext>
            </a:extLst>
          </p:cNvPr>
          <p:cNvSpPr>
            <a:spLocks noGrp="1"/>
          </p:cNvSpPr>
          <p:nvPr>
            <p:ph idx="1"/>
          </p:nvPr>
        </p:nvSpPr>
        <p:spPr>
          <a:xfrm>
            <a:off x="838200" y="2477729"/>
            <a:ext cx="10515600" cy="3699234"/>
          </a:xfrm>
        </p:spPr>
        <p:txBody>
          <a:bodyPr/>
          <a:lstStyle/>
          <a:p>
            <a:r>
              <a:rPr lang="en-US" dirty="0"/>
              <a:t>Exploratory Data Analysis was performed to understand the structure of the dataset, identify trends, detect anomalies, and discover potential relationships between variables and customer churn.</a:t>
            </a:r>
          </a:p>
          <a:p>
            <a:r>
              <a:rPr lang="en-US" dirty="0"/>
              <a:t>EDA involved both statistical analysis and data visualization.</a:t>
            </a:r>
          </a:p>
        </p:txBody>
      </p:sp>
    </p:spTree>
    <p:extLst>
      <p:ext uri="{BB962C8B-B14F-4D97-AF65-F5344CB8AC3E}">
        <p14:creationId xmlns:p14="http://schemas.microsoft.com/office/powerpoint/2010/main" val="4197981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FF56C-4A0B-D0BB-0B86-5C5D6C460E05}"/>
              </a:ext>
            </a:extLst>
          </p:cNvPr>
          <p:cNvSpPr>
            <a:spLocks noGrp="1"/>
          </p:cNvSpPr>
          <p:nvPr>
            <p:ph idx="1"/>
          </p:nvPr>
        </p:nvSpPr>
        <p:spPr>
          <a:xfrm>
            <a:off x="167147" y="157316"/>
            <a:ext cx="11838039" cy="6558116"/>
          </a:xfrm>
        </p:spPr>
        <p:txBody>
          <a:bodyPr>
            <a:normAutofit fontScale="92500" lnSpcReduction="20000"/>
          </a:bodyPr>
          <a:lstStyle/>
          <a:p>
            <a:r>
              <a:rPr lang="en-US" sz="3000" b="1" dirty="0"/>
              <a:t>Age Distribution</a:t>
            </a:r>
          </a:p>
          <a:p>
            <a:pPr marL="0" indent="0">
              <a:buNone/>
            </a:pPr>
            <a:r>
              <a:rPr lang="en-US" sz="3000" dirty="0"/>
              <a:t>A histogram was used to analyze the distribution of customer ages. The analysis shows that the customer base consists mainly of young to middle-aged individuals. Understanding the age distribution helps determine whether churn behavior varies across different age groups.</a:t>
            </a:r>
            <a:br>
              <a:rPr lang="en-US" sz="3000" dirty="0"/>
            </a:br>
            <a:endParaRPr lang="en-US" sz="3000" dirty="0"/>
          </a:p>
          <a:p>
            <a:r>
              <a:rPr lang="en-US" sz="3000" b="1" dirty="0"/>
              <a:t>Transaction Spending Analysis</a:t>
            </a:r>
          </a:p>
          <a:p>
            <a:pPr marL="0" indent="0">
              <a:buNone/>
            </a:pPr>
            <a:r>
              <a:rPr lang="en-US" sz="3000" dirty="0"/>
              <a:t>A boxplot was used to examine the distribution of </a:t>
            </a:r>
            <a:r>
              <a:rPr lang="en-US" sz="3000" b="1" dirty="0"/>
              <a:t>Amount Spent</a:t>
            </a:r>
            <a:r>
              <a:rPr lang="en-US" sz="3000" dirty="0"/>
              <a:t> by customers. The visualization showed that most transaction values fall within a reasonable range. No significant outliers were observed outside the whiskers of the boxplot, indicating that transaction spending values are relatively stable and do not require outlier removal.</a:t>
            </a:r>
            <a:br>
              <a:rPr lang="en-US" sz="3000" dirty="0"/>
            </a:br>
            <a:endParaRPr lang="en-US" sz="3000" dirty="0"/>
          </a:p>
          <a:p>
            <a:r>
              <a:rPr lang="en-US" sz="3000" b="1" dirty="0"/>
              <a:t>Login Frequency and Customer Churn</a:t>
            </a:r>
          </a:p>
          <a:p>
            <a:pPr marL="0" indent="0">
              <a:buNone/>
            </a:pPr>
            <a:r>
              <a:rPr lang="en-US" sz="3000" dirty="0"/>
              <a:t>A boxplot was used to compare login frequency between customers who churned and those who remained active. The analysis indicates that customers with lower login frequency tend to have a higher probability of churn. This suggests that reduced digital engagement may be an early indicator of customer disengagement.</a:t>
            </a:r>
          </a:p>
          <a:p>
            <a:pPr marL="0" indent="0">
              <a:buNone/>
            </a:pPr>
            <a:endParaRPr lang="en-IN" dirty="0"/>
          </a:p>
        </p:txBody>
      </p:sp>
    </p:spTree>
    <p:extLst>
      <p:ext uri="{BB962C8B-B14F-4D97-AF65-F5344CB8AC3E}">
        <p14:creationId xmlns:p14="http://schemas.microsoft.com/office/powerpoint/2010/main" val="3674031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6755B5-24DD-FA83-9254-2E5C481285D3}"/>
              </a:ext>
            </a:extLst>
          </p:cNvPr>
          <p:cNvPicPr>
            <a:picLocks noGrp="1" noChangeAspect="1"/>
          </p:cNvPicPr>
          <p:nvPr>
            <p:ph idx="1"/>
          </p:nvPr>
        </p:nvPicPr>
        <p:blipFill>
          <a:blip r:embed="rId2"/>
          <a:stretch>
            <a:fillRect/>
          </a:stretch>
        </p:blipFill>
        <p:spPr>
          <a:xfrm>
            <a:off x="1691149" y="147484"/>
            <a:ext cx="8550279" cy="6710516"/>
          </a:xfrm>
          <a:prstGeom prst="rect">
            <a:avLst/>
          </a:prstGeom>
        </p:spPr>
      </p:pic>
    </p:spTree>
    <p:extLst>
      <p:ext uri="{BB962C8B-B14F-4D97-AF65-F5344CB8AC3E}">
        <p14:creationId xmlns:p14="http://schemas.microsoft.com/office/powerpoint/2010/main" val="385216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F505C3-81A5-3CB0-D197-2AE0E9F79A1C}"/>
              </a:ext>
            </a:extLst>
          </p:cNvPr>
          <p:cNvPicPr>
            <a:picLocks noGrp="1" noChangeAspect="1"/>
          </p:cNvPicPr>
          <p:nvPr>
            <p:ph idx="1"/>
          </p:nvPr>
        </p:nvPicPr>
        <p:blipFill>
          <a:blip r:embed="rId2"/>
          <a:stretch>
            <a:fillRect/>
          </a:stretch>
        </p:blipFill>
        <p:spPr>
          <a:xfrm>
            <a:off x="1622324" y="66368"/>
            <a:ext cx="8750708" cy="6658897"/>
          </a:xfrm>
          <a:prstGeom prst="rect">
            <a:avLst/>
          </a:prstGeom>
        </p:spPr>
      </p:pic>
    </p:spTree>
    <p:extLst>
      <p:ext uri="{BB962C8B-B14F-4D97-AF65-F5344CB8AC3E}">
        <p14:creationId xmlns:p14="http://schemas.microsoft.com/office/powerpoint/2010/main" val="2261874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CCDE2D-E599-8EAF-AD96-A5E73DD6AF93}"/>
              </a:ext>
            </a:extLst>
          </p:cNvPr>
          <p:cNvPicPr>
            <a:picLocks noGrp="1" noChangeAspect="1"/>
          </p:cNvPicPr>
          <p:nvPr>
            <p:ph idx="1"/>
          </p:nvPr>
        </p:nvPicPr>
        <p:blipFill>
          <a:blip r:embed="rId2"/>
          <a:stretch>
            <a:fillRect/>
          </a:stretch>
        </p:blipFill>
        <p:spPr>
          <a:xfrm>
            <a:off x="1838631" y="0"/>
            <a:ext cx="8573730" cy="6567948"/>
          </a:xfrm>
          <a:prstGeom prst="rect">
            <a:avLst/>
          </a:prstGeom>
        </p:spPr>
      </p:pic>
    </p:spTree>
    <p:extLst>
      <p:ext uri="{BB962C8B-B14F-4D97-AF65-F5344CB8AC3E}">
        <p14:creationId xmlns:p14="http://schemas.microsoft.com/office/powerpoint/2010/main" val="313517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C801A-80FE-94BF-7B37-153B354E53C5}"/>
              </a:ext>
            </a:extLst>
          </p:cNvPr>
          <p:cNvSpPr>
            <a:spLocks noGrp="1"/>
          </p:cNvSpPr>
          <p:nvPr>
            <p:ph idx="1"/>
          </p:nvPr>
        </p:nvSpPr>
        <p:spPr>
          <a:xfrm>
            <a:off x="167147" y="88490"/>
            <a:ext cx="11828207" cy="6646607"/>
          </a:xfrm>
        </p:spPr>
        <p:txBody>
          <a:bodyPr>
            <a:normAutofit fontScale="92500" lnSpcReduction="20000"/>
          </a:bodyPr>
          <a:lstStyle/>
          <a:p>
            <a:r>
              <a:rPr lang="en-US" sz="3000" b="1" dirty="0"/>
              <a:t>Gender Distribution</a:t>
            </a:r>
          </a:p>
          <a:p>
            <a:pPr marL="0" indent="0">
              <a:buNone/>
            </a:pPr>
            <a:r>
              <a:rPr lang="en-US" sz="3000" dirty="0"/>
              <a:t>A count plot was used to analyze the distribution of customers by gender. The visualization helps determine whether the dataset is balanced between male and female customers. Understanding gender distribution is important because demographic factors may influence financial behavior and engagement patterns.</a:t>
            </a:r>
          </a:p>
          <a:p>
            <a:pPr marL="0" indent="0">
              <a:buNone/>
            </a:pPr>
            <a:endParaRPr lang="en-US" sz="3000" b="1" dirty="0"/>
          </a:p>
          <a:p>
            <a:r>
              <a:rPr lang="en-US" sz="3000" b="1" dirty="0"/>
              <a:t>Income Level Distribution</a:t>
            </a:r>
          </a:p>
          <a:p>
            <a:pPr marL="0" indent="0">
              <a:buNone/>
            </a:pPr>
            <a:r>
              <a:rPr lang="en-US" sz="3000" dirty="0"/>
              <a:t>A count plot was used to examine the distribution of customers across different income levels. Income segmentation helps identify whether customers with lower income levels exhibit higher churn tendencies due to pricing sensitivity or financial constraints.</a:t>
            </a:r>
            <a:br>
              <a:rPr lang="en-US" sz="3000" dirty="0"/>
            </a:br>
            <a:endParaRPr lang="en-US" sz="3000" dirty="0"/>
          </a:p>
          <a:p>
            <a:r>
              <a:rPr lang="en-US" sz="3000" b="1" dirty="0"/>
              <a:t>Correlation Analysis</a:t>
            </a:r>
          </a:p>
          <a:p>
            <a:pPr marL="0" indent="0">
              <a:buNone/>
            </a:pPr>
            <a:r>
              <a:rPr lang="en-US" sz="3000" dirty="0"/>
              <a:t>A correlation heatmap was generated to examine relationships between numerical variables. This analysis helps identify variables that may be strongly associated with customer churn, such as login frequency, transaction spending, or service usage. Understanding these relationships provides valuable insights for selecting features when building predictive models.</a:t>
            </a:r>
          </a:p>
          <a:p>
            <a:pPr marL="0" indent="0">
              <a:buNone/>
            </a:pPr>
            <a:endParaRPr lang="en-IN" dirty="0"/>
          </a:p>
        </p:txBody>
      </p:sp>
    </p:spTree>
    <p:extLst>
      <p:ext uri="{BB962C8B-B14F-4D97-AF65-F5344CB8AC3E}">
        <p14:creationId xmlns:p14="http://schemas.microsoft.com/office/powerpoint/2010/main" val="1850010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5C110D-124D-2AF4-18C1-16CC58DDF961}"/>
              </a:ext>
            </a:extLst>
          </p:cNvPr>
          <p:cNvPicPr>
            <a:picLocks noGrp="1" noChangeAspect="1"/>
          </p:cNvPicPr>
          <p:nvPr>
            <p:ph idx="1"/>
          </p:nvPr>
        </p:nvPicPr>
        <p:blipFill>
          <a:blip r:embed="rId2"/>
          <a:stretch>
            <a:fillRect/>
          </a:stretch>
        </p:blipFill>
        <p:spPr>
          <a:xfrm>
            <a:off x="2005781" y="0"/>
            <a:ext cx="8150942" cy="6858000"/>
          </a:xfrm>
          <a:prstGeom prst="rect">
            <a:avLst/>
          </a:prstGeom>
        </p:spPr>
      </p:pic>
    </p:spTree>
    <p:extLst>
      <p:ext uri="{BB962C8B-B14F-4D97-AF65-F5344CB8AC3E}">
        <p14:creationId xmlns:p14="http://schemas.microsoft.com/office/powerpoint/2010/main" val="4193337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A9E433-6FD3-38C0-36D9-508452859BA8}"/>
              </a:ext>
            </a:extLst>
          </p:cNvPr>
          <p:cNvPicPr>
            <a:picLocks noGrp="1" noChangeAspect="1"/>
          </p:cNvPicPr>
          <p:nvPr>
            <p:ph idx="1"/>
          </p:nvPr>
        </p:nvPicPr>
        <p:blipFill>
          <a:blip r:embed="rId2"/>
          <a:stretch>
            <a:fillRect/>
          </a:stretch>
        </p:blipFill>
        <p:spPr>
          <a:xfrm>
            <a:off x="1907458" y="0"/>
            <a:ext cx="8219768" cy="6858000"/>
          </a:xfrm>
          <a:prstGeom prst="rect">
            <a:avLst/>
          </a:prstGeom>
        </p:spPr>
      </p:pic>
    </p:spTree>
    <p:extLst>
      <p:ext uri="{BB962C8B-B14F-4D97-AF65-F5344CB8AC3E}">
        <p14:creationId xmlns:p14="http://schemas.microsoft.com/office/powerpoint/2010/main" val="277064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CE7A455-3E8D-7EBD-C62A-70E59BECE0B5}"/>
              </a:ext>
            </a:extLst>
          </p:cNvPr>
          <p:cNvPicPr>
            <a:picLocks noGrp="1" noChangeAspect="1"/>
          </p:cNvPicPr>
          <p:nvPr>
            <p:ph idx="1"/>
          </p:nvPr>
        </p:nvPicPr>
        <p:blipFill>
          <a:blip r:embed="rId2"/>
          <a:stretch>
            <a:fillRect/>
          </a:stretch>
        </p:blipFill>
        <p:spPr>
          <a:xfrm>
            <a:off x="1986115" y="0"/>
            <a:ext cx="7639665" cy="6858000"/>
          </a:xfrm>
          <a:prstGeom prst="rect">
            <a:avLst/>
          </a:prstGeom>
        </p:spPr>
      </p:pic>
    </p:spTree>
    <p:extLst>
      <p:ext uri="{BB962C8B-B14F-4D97-AF65-F5344CB8AC3E}">
        <p14:creationId xmlns:p14="http://schemas.microsoft.com/office/powerpoint/2010/main" val="787060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EFD64-67F2-64CF-2CCC-EC86F78E93C9}"/>
              </a:ext>
            </a:extLst>
          </p:cNvPr>
          <p:cNvSpPr>
            <a:spLocks noGrp="1"/>
          </p:cNvSpPr>
          <p:nvPr>
            <p:ph type="title"/>
          </p:nvPr>
        </p:nvSpPr>
        <p:spPr>
          <a:xfrm>
            <a:off x="2123768" y="365125"/>
            <a:ext cx="9230032" cy="1325563"/>
          </a:xfrm>
        </p:spPr>
        <p:txBody>
          <a:bodyPr>
            <a:normAutofit/>
          </a:bodyPr>
          <a:lstStyle/>
          <a:p>
            <a:r>
              <a:rPr lang="en-IN" sz="4800" b="1" dirty="0">
                <a:latin typeface="+mn-lt"/>
              </a:rPr>
              <a:t>Data Cleaning and Preprocessing</a:t>
            </a:r>
          </a:p>
        </p:txBody>
      </p:sp>
      <p:sp>
        <p:nvSpPr>
          <p:cNvPr id="3" name="Content Placeholder 2">
            <a:extLst>
              <a:ext uri="{FF2B5EF4-FFF2-40B4-BE49-F238E27FC236}">
                <a16:creationId xmlns:a16="http://schemas.microsoft.com/office/drawing/2014/main" id="{9180CC1B-5C71-0C25-C96A-8F7CB99BE001}"/>
              </a:ext>
            </a:extLst>
          </p:cNvPr>
          <p:cNvSpPr>
            <a:spLocks noGrp="1"/>
          </p:cNvSpPr>
          <p:nvPr>
            <p:ph idx="1"/>
          </p:nvPr>
        </p:nvSpPr>
        <p:spPr>
          <a:xfrm>
            <a:off x="838200" y="1825624"/>
            <a:ext cx="10515600" cy="4408027"/>
          </a:xfrm>
        </p:spPr>
        <p:txBody>
          <a:bodyPr>
            <a:noAutofit/>
          </a:bodyPr>
          <a:lstStyle/>
          <a:p>
            <a:pPr marL="0" indent="0">
              <a:buNone/>
            </a:pPr>
            <a:r>
              <a:rPr lang="en-US" dirty="0"/>
              <a:t>Before building machine learning models, the dataset was cleaned and preprocessed to ensure data quality and consistency.</a:t>
            </a:r>
            <a:br>
              <a:rPr lang="en-US" dirty="0"/>
            </a:br>
            <a:endParaRPr lang="en-US" dirty="0"/>
          </a:p>
          <a:p>
            <a:pPr marL="0" indent="0">
              <a:buNone/>
            </a:pPr>
            <a:r>
              <a:rPr lang="en-US" b="1" dirty="0"/>
              <a:t>Handling Missing Values</a:t>
            </a:r>
          </a:p>
          <a:p>
            <a:pPr marL="0" indent="0">
              <a:buNone/>
            </a:pPr>
            <a:r>
              <a:rPr lang="en-US" dirty="0"/>
              <a:t>The dataset was examined for missing values using data profiling techniques. The analysis showed that there were </a:t>
            </a:r>
            <a:r>
              <a:rPr lang="en-US" b="1" dirty="0"/>
              <a:t>no significant missing values</a:t>
            </a:r>
            <a:r>
              <a:rPr lang="en-US" dirty="0"/>
              <a:t> in the dataset. Therefore, no imputation or removal of records was required.</a:t>
            </a:r>
            <a:br>
              <a:rPr lang="en-US" dirty="0"/>
            </a:br>
            <a:endParaRPr lang="en-US" dirty="0"/>
          </a:p>
          <a:p>
            <a:pPr marL="0" indent="0">
              <a:buNone/>
            </a:pPr>
            <a:endParaRPr lang="en-IN" dirty="0"/>
          </a:p>
        </p:txBody>
      </p:sp>
    </p:spTree>
    <p:extLst>
      <p:ext uri="{BB962C8B-B14F-4D97-AF65-F5344CB8AC3E}">
        <p14:creationId xmlns:p14="http://schemas.microsoft.com/office/powerpoint/2010/main" val="3268343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2769C5-037B-D0E7-9721-80578B3F7E82}"/>
              </a:ext>
            </a:extLst>
          </p:cNvPr>
          <p:cNvPicPr>
            <a:picLocks noGrp="1" noChangeAspect="1"/>
          </p:cNvPicPr>
          <p:nvPr>
            <p:ph idx="1"/>
          </p:nvPr>
        </p:nvPicPr>
        <p:blipFill>
          <a:blip r:embed="rId2"/>
          <a:stretch>
            <a:fillRect/>
          </a:stretch>
        </p:blipFill>
        <p:spPr>
          <a:xfrm>
            <a:off x="2256503" y="865239"/>
            <a:ext cx="7678993" cy="4680155"/>
          </a:xfrm>
          <a:prstGeom prst="rect">
            <a:avLst/>
          </a:prstGeom>
        </p:spPr>
      </p:pic>
    </p:spTree>
    <p:extLst>
      <p:ext uri="{BB962C8B-B14F-4D97-AF65-F5344CB8AC3E}">
        <p14:creationId xmlns:p14="http://schemas.microsoft.com/office/powerpoint/2010/main" val="1266750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8C70A-1F1E-ECB9-6B61-8F995FD19774}"/>
              </a:ext>
            </a:extLst>
          </p:cNvPr>
          <p:cNvSpPr>
            <a:spLocks noGrp="1"/>
          </p:cNvSpPr>
          <p:nvPr>
            <p:ph idx="1"/>
          </p:nvPr>
        </p:nvSpPr>
        <p:spPr>
          <a:xfrm>
            <a:off x="157316" y="176980"/>
            <a:ext cx="11798710" cy="6469625"/>
          </a:xfrm>
        </p:spPr>
        <p:txBody>
          <a:bodyPr>
            <a:noAutofit/>
          </a:bodyPr>
          <a:lstStyle/>
          <a:p>
            <a:pPr marL="0" indent="0">
              <a:buNone/>
            </a:pPr>
            <a:r>
              <a:rPr lang="en-US" b="1" dirty="0"/>
              <a:t>Outlier Detection</a:t>
            </a:r>
          </a:p>
          <a:p>
            <a:pPr marL="0" indent="0">
              <a:buNone/>
            </a:pPr>
            <a:r>
              <a:rPr lang="en-US" dirty="0"/>
              <a:t>Outliers were analyzed using boxplots, particularly for the </a:t>
            </a:r>
            <a:r>
              <a:rPr lang="en-US" b="1" dirty="0" err="1"/>
              <a:t>AmountSpent</a:t>
            </a:r>
            <a:r>
              <a:rPr lang="en-US" dirty="0"/>
              <a:t> variable. The analysis indicated that transaction values were within acceptable ranges and no extreme outliers were detected. As a result, no outlier treatment was necessary.</a:t>
            </a:r>
          </a:p>
          <a:p>
            <a:pPr marL="0" indent="0">
              <a:buNone/>
            </a:pPr>
            <a:r>
              <a:rPr lang="en-US" b="1" dirty="0"/>
              <a:t>Encoding Categorical Variables </a:t>
            </a:r>
          </a:p>
          <a:p>
            <a:r>
              <a:rPr lang="en-US" dirty="0"/>
              <a:t>Machine learning algorithms require numerical input, so categorical variables such as:</a:t>
            </a:r>
          </a:p>
          <a:p>
            <a:r>
              <a:rPr lang="en-US" dirty="0"/>
              <a:t>Gender       </a:t>
            </a:r>
          </a:p>
          <a:p>
            <a:r>
              <a:rPr lang="en-US" dirty="0"/>
              <a:t>Marital Status </a:t>
            </a:r>
          </a:p>
          <a:p>
            <a:r>
              <a:rPr lang="en-US" dirty="0"/>
              <a:t>Income Level </a:t>
            </a:r>
          </a:p>
          <a:p>
            <a:r>
              <a:rPr lang="en-US" dirty="0"/>
              <a:t>Service Usage were transformed using </a:t>
            </a:r>
            <a:r>
              <a:rPr lang="en-US" b="1" dirty="0"/>
              <a:t>One-Hot Encoding</a:t>
            </a:r>
            <a:r>
              <a:rPr lang="en-US" dirty="0"/>
              <a:t>.</a:t>
            </a:r>
          </a:p>
          <a:p>
            <a:r>
              <a:rPr lang="en-US" dirty="0"/>
              <a:t>This method converts each category into a binary variable while preventing the model from assuming an ordinal relationship between categories.</a:t>
            </a:r>
          </a:p>
          <a:p>
            <a:endParaRPr lang="en-US" dirty="0"/>
          </a:p>
        </p:txBody>
      </p:sp>
      <p:pic>
        <p:nvPicPr>
          <p:cNvPr id="5" name="Picture 4">
            <a:extLst>
              <a:ext uri="{FF2B5EF4-FFF2-40B4-BE49-F238E27FC236}">
                <a16:creationId xmlns:a16="http://schemas.microsoft.com/office/drawing/2014/main" id="{60C3BBF7-9B63-14C7-8A10-332B90E4E757}"/>
              </a:ext>
            </a:extLst>
          </p:cNvPr>
          <p:cNvPicPr>
            <a:picLocks noChangeAspect="1"/>
          </p:cNvPicPr>
          <p:nvPr/>
        </p:nvPicPr>
        <p:blipFill>
          <a:blip r:embed="rId2"/>
          <a:stretch>
            <a:fillRect/>
          </a:stretch>
        </p:blipFill>
        <p:spPr>
          <a:xfrm>
            <a:off x="5114854" y="3834441"/>
            <a:ext cx="6511211" cy="826050"/>
          </a:xfrm>
          <a:prstGeom prst="rect">
            <a:avLst/>
          </a:prstGeom>
        </p:spPr>
      </p:pic>
    </p:spTree>
    <p:extLst>
      <p:ext uri="{BB962C8B-B14F-4D97-AF65-F5344CB8AC3E}">
        <p14:creationId xmlns:p14="http://schemas.microsoft.com/office/powerpoint/2010/main" val="175794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5DE896-21E0-054D-1888-E9B47AAC47D9}"/>
              </a:ext>
            </a:extLst>
          </p:cNvPr>
          <p:cNvSpPr>
            <a:spLocks noGrp="1"/>
          </p:cNvSpPr>
          <p:nvPr>
            <p:ph idx="1"/>
          </p:nvPr>
        </p:nvSpPr>
        <p:spPr>
          <a:xfrm>
            <a:off x="211393" y="213851"/>
            <a:ext cx="11769213" cy="6430297"/>
          </a:xfrm>
        </p:spPr>
        <p:txBody>
          <a:bodyPr>
            <a:normAutofit/>
          </a:bodyPr>
          <a:lstStyle/>
          <a:p>
            <a:pPr marL="0" indent="0">
              <a:buNone/>
            </a:pPr>
            <a:r>
              <a:rPr lang="en-US" b="1" dirty="0"/>
              <a:t>Feature Scaling</a:t>
            </a:r>
          </a:p>
          <a:p>
            <a:r>
              <a:rPr lang="en-US" dirty="0"/>
              <a:t>To ensure that numerical features contribute equally to machine learning algorithms, feature scaling was applied.</a:t>
            </a:r>
          </a:p>
          <a:p>
            <a:pPr marL="0" indent="0">
              <a:buNone/>
            </a:pPr>
            <a:r>
              <a:rPr lang="en-US" dirty="0"/>
              <a:t>Numerical variables such as:</a:t>
            </a:r>
          </a:p>
          <a:p>
            <a:r>
              <a:rPr lang="en-US" dirty="0"/>
              <a:t>Age </a:t>
            </a:r>
          </a:p>
          <a:p>
            <a:r>
              <a:rPr lang="en-US" dirty="0"/>
              <a:t>Transaction Amount were standardized using </a:t>
            </a:r>
            <a:r>
              <a:rPr lang="en-US" b="1" dirty="0"/>
              <a:t>Standardization (Z-score scaling)</a:t>
            </a:r>
            <a:r>
              <a:rPr lang="en-US" dirty="0"/>
              <a:t> so that they have a mean of zero and a standard deviation of one.</a:t>
            </a:r>
          </a:p>
          <a:p>
            <a:r>
              <a:rPr lang="en-US" dirty="0"/>
              <a:t>This step improves model performance and prevents features with larger scales from dominating the learning process.</a:t>
            </a:r>
          </a:p>
          <a:p>
            <a:pPr marL="0" indent="0">
              <a:buNone/>
            </a:pPr>
            <a:endParaRPr lang="en-IN" dirty="0"/>
          </a:p>
        </p:txBody>
      </p:sp>
      <p:pic>
        <p:nvPicPr>
          <p:cNvPr id="6" name="Picture 5">
            <a:extLst>
              <a:ext uri="{FF2B5EF4-FFF2-40B4-BE49-F238E27FC236}">
                <a16:creationId xmlns:a16="http://schemas.microsoft.com/office/drawing/2014/main" id="{C97DDF26-D49F-2C45-F5F1-1BB653EB72C1}"/>
              </a:ext>
            </a:extLst>
          </p:cNvPr>
          <p:cNvPicPr>
            <a:picLocks noChangeAspect="1"/>
          </p:cNvPicPr>
          <p:nvPr/>
        </p:nvPicPr>
        <p:blipFill>
          <a:blip r:embed="rId2"/>
          <a:stretch>
            <a:fillRect/>
          </a:stretch>
        </p:blipFill>
        <p:spPr>
          <a:xfrm>
            <a:off x="1189703" y="4867547"/>
            <a:ext cx="9910916" cy="1776601"/>
          </a:xfrm>
          <a:prstGeom prst="rect">
            <a:avLst/>
          </a:prstGeom>
        </p:spPr>
      </p:pic>
    </p:spTree>
    <p:extLst>
      <p:ext uri="{BB962C8B-B14F-4D97-AF65-F5344CB8AC3E}">
        <p14:creationId xmlns:p14="http://schemas.microsoft.com/office/powerpoint/2010/main" val="1820923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75C4-3327-1B8B-0118-926A73344998}"/>
              </a:ext>
            </a:extLst>
          </p:cNvPr>
          <p:cNvSpPr>
            <a:spLocks noGrp="1"/>
          </p:cNvSpPr>
          <p:nvPr>
            <p:ph type="title"/>
          </p:nvPr>
        </p:nvSpPr>
        <p:spPr>
          <a:xfrm>
            <a:off x="3254476" y="365125"/>
            <a:ext cx="8099323" cy="1325563"/>
          </a:xfrm>
        </p:spPr>
        <p:txBody>
          <a:bodyPr>
            <a:normAutofit/>
          </a:bodyPr>
          <a:lstStyle/>
          <a:p>
            <a:r>
              <a:rPr lang="en-IN" sz="4800" b="1" dirty="0">
                <a:latin typeface="+mn-lt"/>
              </a:rPr>
              <a:t>Final Prepared Dataset</a:t>
            </a:r>
          </a:p>
        </p:txBody>
      </p:sp>
      <p:sp>
        <p:nvSpPr>
          <p:cNvPr id="3" name="Content Placeholder 2">
            <a:extLst>
              <a:ext uri="{FF2B5EF4-FFF2-40B4-BE49-F238E27FC236}">
                <a16:creationId xmlns:a16="http://schemas.microsoft.com/office/drawing/2014/main" id="{D516CCF7-6F0D-42B5-21B5-3342B4E69EE7}"/>
              </a:ext>
            </a:extLst>
          </p:cNvPr>
          <p:cNvSpPr>
            <a:spLocks noGrp="1"/>
          </p:cNvSpPr>
          <p:nvPr>
            <p:ph idx="1"/>
          </p:nvPr>
        </p:nvSpPr>
        <p:spPr/>
        <p:txBody>
          <a:bodyPr/>
          <a:lstStyle/>
          <a:p>
            <a:r>
              <a:rPr lang="en-US" dirty="0"/>
              <a:t>After completing the preprocessing steps, the final dataset contains:</a:t>
            </a:r>
          </a:p>
          <a:p>
            <a:r>
              <a:rPr lang="en-US" dirty="0"/>
              <a:t>Cleaned and standardized numerical variables </a:t>
            </a:r>
          </a:p>
          <a:p>
            <a:r>
              <a:rPr lang="en-US" dirty="0"/>
              <a:t>Encoded categorical variables </a:t>
            </a:r>
          </a:p>
          <a:p>
            <a:r>
              <a:rPr lang="en-US" dirty="0"/>
              <a:t>Aggregated transaction data </a:t>
            </a:r>
          </a:p>
          <a:p>
            <a:r>
              <a:rPr lang="en-US" dirty="0"/>
              <a:t>Customer churn status </a:t>
            </a:r>
          </a:p>
          <a:p>
            <a:r>
              <a:rPr lang="en-US" dirty="0"/>
              <a:t>Each row in the dataset represents a single customer, making it suitable for training machine learning models.</a:t>
            </a:r>
          </a:p>
          <a:p>
            <a:r>
              <a:rPr lang="en-US" dirty="0"/>
              <a:t>The prepared dataset is now ready to be used for predictive modeling to identify customers who are at risk of churning.</a:t>
            </a:r>
          </a:p>
          <a:p>
            <a:pPr marL="0" indent="0">
              <a:buNone/>
            </a:pPr>
            <a:endParaRPr lang="en-IN" dirty="0"/>
          </a:p>
        </p:txBody>
      </p:sp>
    </p:spTree>
    <p:extLst>
      <p:ext uri="{BB962C8B-B14F-4D97-AF65-F5344CB8AC3E}">
        <p14:creationId xmlns:p14="http://schemas.microsoft.com/office/powerpoint/2010/main" val="2114575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D9DD-0216-69CE-1199-6B72A2B5C397}"/>
              </a:ext>
            </a:extLst>
          </p:cNvPr>
          <p:cNvSpPr>
            <a:spLocks noGrp="1"/>
          </p:cNvSpPr>
          <p:nvPr>
            <p:ph type="title"/>
          </p:nvPr>
        </p:nvSpPr>
        <p:spPr>
          <a:xfrm>
            <a:off x="4129548" y="365125"/>
            <a:ext cx="7224252" cy="1325563"/>
          </a:xfrm>
        </p:spPr>
        <p:txBody>
          <a:bodyPr>
            <a:normAutofit/>
          </a:bodyPr>
          <a:lstStyle/>
          <a:p>
            <a:r>
              <a:rPr lang="en-IN" sz="4800" b="1" dirty="0">
                <a:latin typeface="+mn-lt"/>
              </a:rPr>
              <a:t>Conclusion</a:t>
            </a:r>
          </a:p>
        </p:txBody>
      </p:sp>
      <p:sp>
        <p:nvSpPr>
          <p:cNvPr id="3" name="Content Placeholder 2">
            <a:extLst>
              <a:ext uri="{FF2B5EF4-FFF2-40B4-BE49-F238E27FC236}">
                <a16:creationId xmlns:a16="http://schemas.microsoft.com/office/drawing/2014/main" id="{80D5A7DA-E152-1C3B-4CDA-016A8E7E57D0}"/>
              </a:ext>
            </a:extLst>
          </p:cNvPr>
          <p:cNvSpPr>
            <a:spLocks noGrp="1"/>
          </p:cNvSpPr>
          <p:nvPr>
            <p:ph idx="1"/>
          </p:nvPr>
        </p:nvSpPr>
        <p:spPr/>
        <p:txBody>
          <a:bodyPr>
            <a:normAutofit lnSpcReduction="10000"/>
          </a:bodyPr>
          <a:lstStyle/>
          <a:p>
            <a:r>
              <a:rPr lang="en-US" dirty="0"/>
              <a:t>This task involved gathering and preparing data for customer churn prediction. Multiple datasets were integrated to capture different aspects of customer behavior, including demographics, financial activity, digital engagement, and customer service interactions.</a:t>
            </a:r>
          </a:p>
          <a:p>
            <a:r>
              <a:rPr lang="en-US" dirty="0"/>
              <a:t>Exploratory data analysis revealed important patterns, such as the relationship between login frequency and customer churn. Data cleaning and preprocessing steps ensured that the dataset is structured, consistent, and suitable for machine learning algorithms.</a:t>
            </a:r>
          </a:p>
          <a:p>
            <a:r>
              <a:rPr lang="en-US" dirty="0"/>
              <a:t>The final dataset provides a solid foundation for building predictive models that can help the bank identify customers at risk of churn and implement targeted retention strategies.</a:t>
            </a:r>
          </a:p>
          <a:p>
            <a:pPr marL="0" indent="0">
              <a:buNone/>
            </a:pPr>
            <a:endParaRPr lang="en-IN" dirty="0"/>
          </a:p>
        </p:txBody>
      </p:sp>
    </p:spTree>
    <p:extLst>
      <p:ext uri="{BB962C8B-B14F-4D97-AF65-F5344CB8AC3E}">
        <p14:creationId xmlns:p14="http://schemas.microsoft.com/office/powerpoint/2010/main" val="132409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DE00A-7E2D-44C6-A6AE-915148F574A9}"/>
              </a:ext>
            </a:extLst>
          </p:cNvPr>
          <p:cNvSpPr>
            <a:spLocks noGrp="1"/>
          </p:cNvSpPr>
          <p:nvPr>
            <p:ph type="ctrTitle"/>
          </p:nvPr>
        </p:nvSpPr>
        <p:spPr>
          <a:xfrm>
            <a:off x="1524000" y="592283"/>
            <a:ext cx="9144000" cy="2306782"/>
          </a:xfrm>
        </p:spPr>
        <p:txBody>
          <a:bodyPr>
            <a:normAutofit/>
          </a:bodyPr>
          <a:lstStyle/>
          <a:p>
            <a:r>
              <a:rPr lang="en-US" sz="4800" b="1" dirty="0">
                <a:latin typeface="+mn-lt"/>
              </a:rPr>
              <a:t>Customer Churn Prediction Using Machine Learning</a:t>
            </a:r>
            <a:endParaRPr lang="en-IN" sz="4800" b="1" dirty="0">
              <a:latin typeface="+mn-lt"/>
            </a:endParaRPr>
          </a:p>
        </p:txBody>
      </p:sp>
      <p:sp>
        <p:nvSpPr>
          <p:cNvPr id="3" name="Subtitle 2">
            <a:extLst>
              <a:ext uri="{FF2B5EF4-FFF2-40B4-BE49-F238E27FC236}">
                <a16:creationId xmlns:a16="http://schemas.microsoft.com/office/drawing/2014/main" id="{8D5A0D25-20D2-1D8D-C994-E7F0A6381279}"/>
              </a:ext>
            </a:extLst>
          </p:cNvPr>
          <p:cNvSpPr>
            <a:spLocks noGrp="1"/>
          </p:cNvSpPr>
          <p:nvPr>
            <p:ph type="subTitle" idx="1"/>
          </p:nvPr>
        </p:nvSpPr>
        <p:spPr/>
        <p:txBody>
          <a:bodyPr/>
          <a:lstStyle/>
          <a:p>
            <a:r>
              <a:rPr lang="en-US" dirty="0"/>
              <a:t>Task 2 – Building and Evaluating a Predictive Model</a:t>
            </a:r>
            <a:endParaRPr lang="en-IN" dirty="0"/>
          </a:p>
          <a:p>
            <a:endParaRPr lang="en-IN" dirty="0"/>
          </a:p>
        </p:txBody>
      </p:sp>
    </p:spTree>
    <p:extLst>
      <p:ext uri="{BB962C8B-B14F-4D97-AF65-F5344CB8AC3E}">
        <p14:creationId xmlns:p14="http://schemas.microsoft.com/office/powerpoint/2010/main" val="2973299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90825-7184-8F01-3118-177DF9132FC0}"/>
              </a:ext>
            </a:extLst>
          </p:cNvPr>
          <p:cNvSpPr>
            <a:spLocks noGrp="1"/>
          </p:cNvSpPr>
          <p:nvPr>
            <p:ph type="title"/>
          </p:nvPr>
        </p:nvSpPr>
        <p:spPr>
          <a:xfrm>
            <a:off x="4249882" y="365125"/>
            <a:ext cx="7103917" cy="1325563"/>
          </a:xfrm>
        </p:spPr>
        <p:txBody>
          <a:bodyPr>
            <a:normAutofit/>
          </a:bodyPr>
          <a:lstStyle/>
          <a:p>
            <a:r>
              <a:rPr lang="en-IN" sz="4800" b="1" dirty="0">
                <a:latin typeface="+mn-lt"/>
              </a:rPr>
              <a:t>Introduction</a:t>
            </a:r>
          </a:p>
        </p:txBody>
      </p:sp>
      <p:sp>
        <p:nvSpPr>
          <p:cNvPr id="3" name="Content Placeholder 2">
            <a:extLst>
              <a:ext uri="{FF2B5EF4-FFF2-40B4-BE49-F238E27FC236}">
                <a16:creationId xmlns:a16="http://schemas.microsoft.com/office/drawing/2014/main" id="{3BC7DEC1-DF7B-7974-6F30-AD1F7E309FCF}"/>
              </a:ext>
            </a:extLst>
          </p:cNvPr>
          <p:cNvSpPr>
            <a:spLocks noGrp="1"/>
          </p:cNvSpPr>
          <p:nvPr>
            <p:ph idx="1"/>
          </p:nvPr>
        </p:nvSpPr>
        <p:spPr/>
        <p:txBody>
          <a:bodyPr>
            <a:normAutofit fontScale="92500" lnSpcReduction="20000"/>
          </a:bodyPr>
          <a:lstStyle/>
          <a:p>
            <a:r>
              <a:rPr lang="en-US" sz="3000" dirty="0"/>
              <a:t>Customer churn prediction is an important analytical problem for financial institutions because retaining existing customers is significantly more cost-effective than acquiring new ones. Identifying customers who are likely to discontinue banking services allows organizations to proactively implement targeted retention strategies.</a:t>
            </a:r>
          </a:p>
          <a:p>
            <a:r>
              <a:rPr lang="en-US" sz="3000" dirty="0"/>
              <a:t>In this task, a machine learning model was developed to predict customer churn using the preprocessed dataset prepared in Task 1. The model analyses customer demographics, financial </a:t>
            </a:r>
            <a:r>
              <a:rPr lang="en-US" sz="3000" dirty="0" err="1"/>
              <a:t>behaviour</a:t>
            </a:r>
            <a:r>
              <a:rPr lang="en-US" sz="3000" dirty="0"/>
              <a:t>, service usage, and digital engagement patterns to identify customers who are most likely to leave the bank.</a:t>
            </a:r>
          </a:p>
          <a:p>
            <a:r>
              <a:rPr lang="en-US" sz="3000" dirty="0"/>
              <a:t>The objective of this task is to build a predictive model that not only achieves strong performance but also provides interpretable insights that can support business decision-making.</a:t>
            </a:r>
          </a:p>
          <a:p>
            <a:pPr marL="0" indent="0">
              <a:buNone/>
            </a:pPr>
            <a:endParaRPr lang="en-IN" dirty="0"/>
          </a:p>
        </p:txBody>
      </p:sp>
    </p:spTree>
    <p:extLst>
      <p:ext uri="{BB962C8B-B14F-4D97-AF65-F5344CB8AC3E}">
        <p14:creationId xmlns:p14="http://schemas.microsoft.com/office/powerpoint/2010/main" val="2809504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69FB-9638-82EA-0539-B62ABFFA4326}"/>
              </a:ext>
            </a:extLst>
          </p:cNvPr>
          <p:cNvSpPr>
            <a:spLocks noGrp="1"/>
          </p:cNvSpPr>
          <p:nvPr>
            <p:ph type="title"/>
          </p:nvPr>
        </p:nvSpPr>
        <p:spPr>
          <a:xfrm>
            <a:off x="3522518" y="365125"/>
            <a:ext cx="7831282" cy="1325563"/>
          </a:xfrm>
        </p:spPr>
        <p:txBody>
          <a:bodyPr>
            <a:normAutofit/>
          </a:bodyPr>
          <a:lstStyle/>
          <a:p>
            <a:r>
              <a:rPr lang="en-IN" sz="4800" b="1" dirty="0">
                <a:latin typeface="+mn-lt"/>
              </a:rPr>
              <a:t>Problem Definition</a:t>
            </a:r>
          </a:p>
        </p:txBody>
      </p:sp>
      <p:sp>
        <p:nvSpPr>
          <p:cNvPr id="3" name="Content Placeholder 2">
            <a:extLst>
              <a:ext uri="{FF2B5EF4-FFF2-40B4-BE49-F238E27FC236}">
                <a16:creationId xmlns:a16="http://schemas.microsoft.com/office/drawing/2014/main" id="{93BC0210-C5FA-58EE-A94F-4E75B1863981}"/>
              </a:ext>
            </a:extLst>
          </p:cNvPr>
          <p:cNvSpPr>
            <a:spLocks noGrp="1"/>
          </p:cNvSpPr>
          <p:nvPr>
            <p:ph idx="1"/>
          </p:nvPr>
        </p:nvSpPr>
        <p:spPr>
          <a:xfrm>
            <a:off x="838200" y="2265217"/>
            <a:ext cx="10515600" cy="3911745"/>
          </a:xfrm>
        </p:spPr>
        <p:txBody>
          <a:bodyPr>
            <a:normAutofit/>
          </a:bodyPr>
          <a:lstStyle/>
          <a:p>
            <a:pPr marL="0" indent="0">
              <a:buNone/>
            </a:pPr>
            <a:r>
              <a:rPr lang="en-US" dirty="0"/>
              <a:t>Customer churn prediction is formulated as a </a:t>
            </a:r>
            <a:r>
              <a:rPr lang="en-US" b="1" dirty="0"/>
              <a:t>binary classification problem</a:t>
            </a:r>
            <a:r>
              <a:rPr lang="en-US" dirty="0"/>
              <a:t>, where the goal is to predict whether a customer will leave the bank. The machine learning model uses various customer features to estimate the probability that a customer will churn.</a:t>
            </a:r>
            <a:endParaRPr lang="en-IN" dirty="0"/>
          </a:p>
        </p:txBody>
      </p:sp>
    </p:spTree>
    <p:extLst>
      <p:ext uri="{BB962C8B-B14F-4D97-AF65-F5344CB8AC3E}">
        <p14:creationId xmlns:p14="http://schemas.microsoft.com/office/powerpoint/2010/main" val="4212994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01C3B-F3F4-ADCD-C850-FB39E393DBE1}"/>
              </a:ext>
            </a:extLst>
          </p:cNvPr>
          <p:cNvSpPr>
            <a:spLocks noGrp="1"/>
          </p:cNvSpPr>
          <p:nvPr>
            <p:ph type="title"/>
          </p:nvPr>
        </p:nvSpPr>
        <p:spPr>
          <a:xfrm>
            <a:off x="3823854" y="365125"/>
            <a:ext cx="7529945" cy="1325563"/>
          </a:xfrm>
        </p:spPr>
        <p:txBody>
          <a:bodyPr>
            <a:normAutofit/>
          </a:bodyPr>
          <a:lstStyle/>
          <a:p>
            <a:r>
              <a:rPr lang="en-IN" sz="4800" b="1" dirty="0">
                <a:latin typeface="+mn-lt"/>
              </a:rPr>
              <a:t>Feature Selection</a:t>
            </a:r>
          </a:p>
        </p:txBody>
      </p:sp>
      <p:sp>
        <p:nvSpPr>
          <p:cNvPr id="3" name="Content Placeholder 2">
            <a:extLst>
              <a:ext uri="{FF2B5EF4-FFF2-40B4-BE49-F238E27FC236}">
                <a16:creationId xmlns:a16="http://schemas.microsoft.com/office/drawing/2014/main" id="{C893AEB5-209D-3152-DC2F-250A749AD856}"/>
              </a:ext>
            </a:extLst>
          </p:cNvPr>
          <p:cNvSpPr>
            <a:spLocks noGrp="1"/>
          </p:cNvSpPr>
          <p:nvPr>
            <p:ph idx="1"/>
          </p:nvPr>
        </p:nvSpPr>
        <p:spPr>
          <a:xfrm>
            <a:off x="838200" y="1825625"/>
            <a:ext cx="10515600" cy="4803776"/>
          </a:xfrm>
        </p:spPr>
        <p:txBody>
          <a:bodyPr>
            <a:normAutofit fontScale="55000" lnSpcReduction="20000"/>
          </a:bodyPr>
          <a:lstStyle/>
          <a:p>
            <a:pPr marL="0" indent="0">
              <a:buNone/>
            </a:pPr>
            <a:r>
              <a:rPr lang="en-US" sz="5100" dirty="0"/>
              <a:t>The predictive model was trained using the cleaned dataset created in Task 1. The dataset contains multiple features representing customer characteristics and </a:t>
            </a:r>
            <a:r>
              <a:rPr lang="en-US" sz="5100" dirty="0" err="1"/>
              <a:t>behaviour</a:t>
            </a:r>
            <a:r>
              <a:rPr lang="en-US" sz="5100" dirty="0"/>
              <a:t>.</a:t>
            </a:r>
          </a:p>
          <a:p>
            <a:pPr marL="0" indent="0">
              <a:buNone/>
            </a:pPr>
            <a:endParaRPr lang="en-US" sz="5100" dirty="0"/>
          </a:p>
          <a:p>
            <a:pPr marL="0" indent="0">
              <a:buNone/>
            </a:pPr>
            <a:r>
              <a:rPr lang="en-US" sz="5100" dirty="0"/>
              <a:t>Key features include:</a:t>
            </a:r>
          </a:p>
          <a:p>
            <a:r>
              <a:rPr lang="en-US" sz="5100" dirty="0"/>
              <a:t>Age </a:t>
            </a:r>
          </a:p>
          <a:p>
            <a:r>
              <a:rPr lang="en-US" sz="5100" dirty="0"/>
              <a:t>Transaction amount </a:t>
            </a:r>
          </a:p>
          <a:p>
            <a:r>
              <a:rPr lang="en-US" sz="5100" dirty="0"/>
              <a:t>Login frequency </a:t>
            </a:r>
          </a:p>
          <a:p>
            <a:r>
              <a:rPr lang="en-US" sz="5100" dirty="0"/>
              <a:t>Gender                                                  </a:t>
            </a:r>
          </a:p>
          <a:p>
            <a:r>
              <a:rPr lang="en-US" sz="5100" dirty="0"/>
              <a:t>Income level </a:t>
            </a:r>
          </a:p>
          <a:p>
            <a:r>
              <a:rPr lang="en-US" sz="5100" dirty="0"/>
              <a:t>Marital status </a:t>
            </a:r>
          </a:p>
          <a:p>
            <a:pPr marL="0" indent="0">
              <a:buNone/>
            </a:pPr>
            <a:endParaRPr lang="en-IN" dirty="0"/>
          </a:p>
        </p:txBody>
      </p:sp>
      <p:pic>
        <p:nvPicPr>
          <p:cNvPr id="5" name="Picture 4">
            <a:extLst>
              <a:ext uri="{FF2B5EF4-FFF2-40B4-BE49-F238E27FC236}">
                <a16:creationId xmlns:a16="http://schemas.microsoft.com/office/drawing/2014/main" id="{DB00E5EE-71B7-4810-6292-B04734F2B94A}"/>
              </a:ext>
            </a:extLst>
          </p:cNvPr>
          <p:cNvPicPr>
            <a:picLocks noChangeAspect="1"/>
          </p:cNvPicPr>
          <p:nvPr/>
        </p:nvPicPr>
        <p:blipFill>
          <a:blip r:embed="rId2"/>
          <a:stretch>
            <a:fillRect/>
          </a:stretch>
        </p:blipFill>
        <p:spPr>
          <a:xfrm>
            <a:off x="4915777" y="3429000"/>
            <a:ext cx="6758265" cy="2109355"/>
          </a:xfrm>
          <a:prstGeom prst="rect">
            <a:avLst/>
          </a:prstGeom>
        </p:spPr>
      </p:pic>
    </p:spTree>
    <p:extLst>
      <p:ext uri="{BB962C8B-B14F-4D97-AF65-F5344CB8AC3E}">
        <p14:creationId xmlns:p14="http://schemas.microsoft.com/office/powerpoint/2010/main" val="1222783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3F45F-4275-64BB-A2C1-8B1460340C43}"/>
              </a:ext>
            </a:extLst>
          </p:cNvPr>
          <p:cNvSpPr>
            <a:spLocks noGrp="1"/>
          </p:cNvSpPr>
          <p:nvPr>
            <p:ph idx="1"/>
          </p:nvPr>
        </p:nvSpPr>
        <p:spPr>
          <a:xfrm>
            <a:off x="838200" y="696191"/>
            <a:ext cx="10515600" cy="5480772"/>
          </a:xfrm>
        </p:spPr>
        <p:txBody>
          <a:bodyPr/>
          <a:lstStyle/>
          <a:p>
            <a:r>
              <a:rPr lang="en-US" dirty="0"/>
              <a:t>Service usage (Online Banking / Website) </a:t>
            </a:r>
          </a:p>
          <a:p>
            <a:r>
              <a:rPr lang="en-US" dirty="0"/>
              <a:t>These variables capture important aspects of customer engagement and financial activity, which are often strong indicators of churn </a:t>
            </a:r>
            <a:r>
              <a:rPr lang="en-US" dirty="0" err="1"/>
              <a:t>behaviour</a:t>
            </a:r>
            <a:r>
              <a:rPr lang="en-US" dirty="0"/>
              <a:t>.</a:t>
            </a:r>
          </a:p>
          <a:p>
            <a:r>
              <a:rPr lang="en-US" dirty="0"/>
              <a:t>Before training the model, non-numerical and identifier columns such as </a:t>
            </a:r>
            <a:r>
              <a:rPr lang="en-US" b="1" dirty="0" err="1"/>
              <a:t>CustomerID</a:t>
            </a:r>
            <a:r>
              <a:rPr lang="en-US" dirty="0"/>
              <a:t> and date fields were removed to ensure compatibility with machine learning algorithms.</a:t>
            </a:r>
          </a:p>
          <a:p>
            <a:pPr marL="0" indent="0">
              <a:buNone/>
            </a:pPr>
            <a:endParaRPr lang="en-IN" dirty="0"/>
          </a:p>
        </p:txBody>
      </p:sp>
    </p:spTree>
    <p:extLst>
      <p:ext uri="{BB962C8B-B14F-4D97-AF65-F5344CB8AC3E}">
        <p14:creationId xmlns:p14="http://schemas.microsoft.com/office/powerpoint/2010/main" val="1275607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17DC-7C97-C685-BD1F-3B66642C4E43}"/>
              </a:ext>
            </a:extLst>
          </p:cNvPr>
          <p:cNvSpPr>
            <a:spLocks noGrp="1"/>
          </p:cNvSpPr>
          <p:nvPr>
            <p:ph type="title"/>
          </p:nvPr>
        </p:nvSpPr>
        <p:spPr>
          <a:xfrm>
            <a:off x="3543300" y="365125"/>
            <a:ext cx="7810500" cy="1325563"/>
          </a:xfrm>
        </p:spPr>
        <p:txBody>
          <a:bodyPr>
            <a:normAutofit/>
          </a:bodyPr>
          <a:lstStyle/>
          <a:p>
            <a:r>
              <a:rPr lang="en-IN" sz="4800" b="1" dirty="0">
                <a:latin typeface="+mn-lt"/>
              </a:rPr>
              <a:t>Algorithm Selection</a:t>
            </a:r>
          </a:p>
        </p:txBody>
      </p:sp>
      <p:sp>
        <p:nvSpPr>
          <p:cNvPr id="3" name="Content Placeholder 2">
            <a:extLst>
              <a:ext uri="{FF2B5EF4-FFF2-40B4-BE49-F238E27FC236}">
                <a16:creationId xmlns:a16="http://schemas.microsoft.com/office/drawing/2014/main" id="{1A5EAD12-7211-CC13-3FBE-B406DBF3C096}"/>
              </a:ext>
            </a:extLst>
          </p:cNvPr>
          <p:cNvSpPr>
            <a:spLocks noGrp="1"/>
          </p:cNvSpPr>
          <p:nvPr>
            <p:ph idx="1"/>
          </p:nvPr>
        </p:nvSpPr>
        <p:spPr/>
        <p:txBody>
          <a:bodyPr/>
          <a:lstStyle/>
          <a:p>
            <a:r>
              <a:rPr lang="en-US" dirty="0"/>
              <a:t>Several machine learning algorithms were considered for churn prediction, including:</a:t>
            </a:r>
          </a:p>
          <a:p>
            <a:r>
              <a:rPr lang="en-US" dirty="0"/>
              <a:t>Logistic Regression </a:t>
            </a:r>
          </a:p>
          <a:p>
            <a:r>
              <a:rPr lang="en-US" dirty="0"/>
              <a:t>Decision Trees </a:t>
            </a:r>
          </a:p>
          <a:p>
            <a:r>
              <a:rPr lang="en-US" dirty="0"/>
              <a:t>Random Forest </a:t>
            </a:r>
          </a:p>
          <a:p>
            <a:r>
              <a:rPr lang="en-US" dirty="0"/>
              <a:t>Gradient Boosting </a:t>
            </a:r>
          </a:p>
          <a:p>
            <a:r>
              <a:rPr lang="en-US" dirty="0"/>
              <a:t>Support Vector Machines </a:t>
            </a:r>
          </a:p>
          <a:p>
            <a:r>
              <a:rPr lang="en-US" dirty="0"/>
              <a:t>For this task, </a:t>
            </a:r>
            <a:r>
              <a:rPr lang="en-US" b="1" dirty="0"/>
              <a:t>Logistic Regression</a:t>
            </a:r>
            <a:r>
              <a:rPr lang="en-US" dirty="0"/>
              <a:t> was selected as the primary model.</a:t>
            </a:r>
          </a:p>
        </p:txBody>
      </p:sp>
    </p:spTree>
    <p:extLst>
      <p:ext uri="{BB962C8B-B14F-4D97-AF65-F5344CB8AC3E}">
        <p14:creationId xmlns:p14="http://schemas.microsoft.com/office/powerpoint/2010/main" val="3237810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2D72-2924-A5A5-17E1-9AFF1AB46837}"/>
              </a:ext>
            </a:extLst>
          </p:cNvPr>
          <p:cNvSpPr>
            <a:spLocks noGrp="1"/>
          </p:cNvSpPr>
          <p:nvPr>
            <p:ph type="title"/>
          </p:nvPr>
        </p:nvSpPr>
        <p:spPr>
          <a:xfrm>
            <a:off x="838200" y="72738"/>
            <a:ext cx="10515600" cy="1350818"/>
          </a:xfrm>
        </p:spPr>
        <p:txBody>
          <a:bodyPr>
            <a:normAutofit/>
          </a:bodyPr>
          <a:lstStyle/>
          <a:p>
            <a:r>
              <a:rPr lang="en-US" sz="4800" b="1" dirty="0">
                <a:latin typeface="+mn-lt"/>
              </a:rPr>
              <a:t>Reasons for Selecting Logistic Regression</a:t>
            </a:r>
            <a:endParaRPr lang="en-IN" sz="4800" b="1" dirty="0">
              <a:latin typeface="+mn-lt"/>
            </a:endParaRPr>
          </a:p>
        </p:txBody>
      </p:sp>
      <p:sp>
        <p:nvSpPr>
          <p:cNvPr id="3" name="Content Placeholder 2">
            <a:extLst>
              <a:ext uri="{FF2B5EF4-FFF2-40B4-BE49-F238E27FC236}">
                <a16:creationId xmlns:a16="http://schemas.microsoft.com/office/drawing/2014/main" id="{5C70FF32-DD0A-4989-E295-6B566B74E6FB}"/>
              </a:ext>
            </a:extLst>
          </p:cNvPr>
          <p:cNvSpPr>
            <a:spLocks noGrp="1"/>
          </p:cNvSpPr>
          <p:nvPr>
            <p:ph idx="1"/>
          </p:nvPr>
        </p:nvSpPr>
        <p:spPr>
          <a:xfrm>
            <a:off x="838200" y="1423557"/>
            <a:ext cx="10515600" cy="5226626"/>
          </a:xfrm>
        </p:spPr>
        <p:txBody>
          <a:bodyPr>
            <a:normAutofit lnSpcReduction="10000"/>
          </a:bodyPr>
          <a:lstStyle/>
          <a:p>
            <a:pPr marL="0" indent="0">
              <a:buNone/>
            </a:pPr>
            <a:r>
              <a:rPr lang="en-US" b="1" dirty="0"/>
              <a:t>Interpretability</a:t>
            </a:r>
            <a:endParaRPr lang="en-US" dirty="0"/>
          </a:p>
          <a:p>
            <a:r>
              <a:rPr lang="en-US" dirty="0"/>
              <a:t>Logistic regression provides clear insights into how each feature influences churn probability. This interpretability is important for business stakeholders who need to understand the drivers of customer churn.</a:t>
            </a:r>
          </a:p>
          <a:p>
            <a:pPr marL="0" indent="0">
              <a:buNone/>
            </a:pPr>
            <a:r>
              <a:rPr lang="en-US" b="1" dirty="0"/>
              <a:t>Efficiency</a:t>
            </a:r>
            <a:endParaRPr lang="en-US" dirty="0"/>
          </a:p>
          <a:p>
            <a:r>
              <a:rPr lang="en-US" dirty="0"/>
              <a:t>The algorithm is computationally efficient and performs well on structured tabular data.</a:t>
            </a:r>
          </a:p>
          <a:p>
            <a:pPr marL="0" indent="0">
              <a:buNone/>
            </a:pPr>
            <a:r>
              <a:rPr lang="en-US" b="1" dirty="0"/>
              <a:t>Probability Output</a:t>
            </a:r>
            <a:endParaRPr lang="en-US" dirty="0"/>
          </a:p>
          <a:p>
            <a:r>
              <a:rPr lang="en-US" dirty="0"/>
              <a:t>Logistic regression produces probability estimates, allowing the business to rank customers based on their risk of churn and </a:t>
            </a:r>
            <a:r>
              <a:rPr lang="en-US" dirty="0" err="1"/>
              <a:t>prioritise</a:t>
            </a:r>
            <a:r>
              <a:rPr lang="en-US" dirty="0"/>
              <a:t> intervention strategies.</a:t>
            </a:r>
          </a:p>
          <a:p>
            <a:pPr marL="0" indent="0">
              <a:buNone/>
            </a:pPr>
            <a:endParaRPr lang="en-IN" dirty="0"/>
          </a:p>
        </p:txBody>
      </p:sp>
    </p:spTree>
    <p:extLst>
      <p:ext uri="{BB962C8B-B14F-4D97-AF65-F5344CB8AC3E}">
        <p14:creationId xmlns:p14="http://schemas.microsoft.com/office/powerpoint/2010/main" val="3076707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0F66E-705B-29A2-DA1E-2C04F60A3EB6}"/>
              </a:ext>
            </a:extLst>
          </p:cNvPr>
          <p:cNvSpPr>
            <a:spLocks noGrp="1"/>
          </p:cNvSpPr>
          <p:nvPr>
            <p:ph type="title"/>
          </p:nvPr>
        </p:nvSpPr>
        <p:spPr>
          <a:xfrm>
            <a:off x="3740726" y="365125"/>
            <a:ext cx="7613073" cy="1325563"/>
          </a:xfrm>
        </p:spPr>
        <p:txBody>
          <a:bodyPr>
            <a:normAutofit/>
          </a:bodyPr>
          <a:lstStyle/>
          <a:p>
            <a:r>
              <a:rPr lang="en-IN" sz="4800" b="1" dirty="0">
                <a:latin typeface="+mn-lt"/>
              </a:rPr>
              <a:t>Model Training</a:t>
            </a:r>
          </a:p>
        </p:txBody>
      </p:sp>
      <p:sp>
        <p:nvSpPr>
          <p:cNvPr id="3" name="Content Placeholder 2">
            <a:extLst>
              <a:ext uri="{FF2B5EF4-FFF2-40B4-BE49-F238E27FC236}">
                <a16:creationId xmlns:a16="http://schemas.microsoft.com/office/drawing/2014/main" id="{4B7CC991-BD44-5869-D4E0-68D3B71B1E04}"/>
              </a:ext>
            </a:extLst>
          </p:cNvPr>
          <p:cNvSpPr>
            <a:spLocks noGrp="1"/>
          </p:cNvSpPr>
          <p:nvPr>
            <p:ph idx="1"/>
          </p:nvPr>
        </p:nvSpPr>
        <p:spPr/>
        <p:txBody>
          <a:bodyPr/>
          <a:lstStyle/>
          <a:p>
            <a:r>
              <a:rPr lang="en-US" dirty="0"/>
              <a:t>The dataset was divided into training and testing sets using an </a:t>
            </a:r>
            <a:r>
              <a:rPr lang="en-US" b="1" dirty="0"/>
              <a:t>80/20 split</a:t>
            </a:r>
            <a:r>
              <a:rPr lang="en-US" dirty="0"/>
              <a:t>.</a:t>
            </a:r>
          </a:p>
          <a:p>
            <a:r>
              <a:rPr lang="en-US" dirty="0"/>
              <a:t>80% of the data was used for training the model </a:t>
            </a:r>
          </a:p>
          <a:p>
            <a:r>
              <a:rPr lang="en-US" dirty="0"/>
              <a:t>20% of the data was used for evaluating model performance </a:t>
            </a:r>
          </a:p>
          <a:p>
            <a:r>
              <a:rPr lang="en-US" dirty="0"/>
              <a:t>The Logistic Regression model was trained using the training dataset, enabling the algorithm to learn patterns that distinguish churned customers from retained customers.</a:t>
            </a:r>
          </a:p>
          <a:p>
            <a:r>
              <a:rPr lang="en-US" dirty="0"/>
              <a:t>To ensure model stability and avoid convergence issues, the maximum number of iterations was increased during training.</a:t>
            </a:r>
          </a:p>
        </p:txBody>
      </p:sp>
    </p:spTree>
    <p:extLst>
      <p:ext uri="{BB962C8B-B14F-4D97-AF65-F5344CB8AC3E}">
        <p14:creationId xmlns:p14="http://schemas.microsoft.com/office/powerpoint/2010/main" val="228695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541F1C6-2276-E4F0-9A0A-CD60F3E4346E}"/>
              </a:ext>
            </a:extLst>
          </p:cNvPr>
          <p:cNvPicPr>
            <a:picLocks noGrp="1" noChangeAspect="1"/>
          </p:cNvPicPr>
          <p:nvPr>
            <p:ph idx="1"/>
          </p:nvPr>
        </p:nvPicPr>
        <p:blipFill>
          <a:blip r:embed="rId2"/>
          <a:stretch>
            <a:fillRect/>
          </a:stretch>
        </p:blipFill>
        <p:spPr>
          <a:xfrm>
            <a:off x="1449531" y="353291"/>
            <a:ext cx="9292937" cy="2323208"/>
          </a:xfrm>
          <a:prstGeom prst="rect">
            <a:avLst/>
          </a:prstGeom>
        </p:spPr>
      </p:pic>
      <p:pic>
        <p:nvPicPr>
          <p:cNvPr id="7" name="Picture 6">
            <a:extLst>
              <a:ext uri="{FF2B5EF4-FFF2-40B4-BE49-F238E27FC236}">
                <a16:creationId xmlns:a16="http://schemas.microsoft.com/office/drawing/2014/main" id="{3FB5A4C4-073C-1F96-F0ED-4EF0EEEBD49D}"/>
              </a:ext>
            </a:extLst>
          </p:cNvPr>
          <p:cNvPicPr>
            <a:picLocks noChangeAspect="1"/>
          </p:cNvPicPr>
          <p:nvPr/>
        </p:nvPicPr>
        <p:blipFill>
          <a:blip r:embed="rId3"/>
          <a:stretch>
            <a:fillRect/>
          </a:stretch>
        </p:blipFill>
        <p:spPr>
          <a:xfrm>
            <a:off x="1449531" y="2963276"/>
            <a:ext cx="9292937" cy="3323224"/>
          </a:xfrm>
          <a:prstGeom prst="rect">
            <a:avLst/>
          </a:prstGeom>
        </p:spPr>
      </p:pic>
    </p:spTree>
    <p:extLst>
      <p:ext uri="{BB962C8B-B14F-4D97-AF65-F5344CB8AC3E}">
        <p14:creationId xmlns:p14="http://schemas.microsoft.com/office/powerpoint/2010/main" val="613096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9D7F7-2A7A-8D65-EF01-B6BE9C594A63}"/>
              </a:ext>
            </a:extLst>
          </p:cNvPr>
          <p:cNvSpPr>
            <a:spLocks noGrp="1"/>
          </p:cNvSpPr>
          <p:nvPr>
            <p:ph type="title"/>
          </p:nvPr>
        </p:nvSpPr>
        <p:spPr>
          <a:xfrm>
            <a:off x="3595254" y="365125"/>
            <a:ext cx="7758545" cy="1325563"/>
          </a:xfrm>
        </p:spPr>
        <p:txBody>
          <a:bodyPr>
            <a:normAutofit/>
          </a:bodyPr>
          <a:lstStyle/>
          <a:p>
            <a:r>
              <a:rPr lang="en-IN" sz="4800" b="1" dirty="0">
                <a:latin typeface="+mn-lt"/>
              </a:rPr>
              <a:t>Model Evaluation</a:t>
            </a:r>
          </a:p>
        </p:txBody>
      </p:sp>
      <p:sp>
        <p:nvSpPr>
          <p:cNvPr id="3" name="Content Placeholder 2">
            <a:extLst>
              <a:ext uri="{FF2B5EF4-FFF2-40B4-BE49-F238E27FC236}">
                <a16:creationId xmlns:a16="http://schemas.microsoft.com/office/drawing/2014/main" id="{53AFB32B-566C-3B73-F42D-CB1BD55769DE}"/>
              </a:ext>
            </a:extLst>
          </p:cNvPr>
          <p:cNvSpPr>
            <a:spLocks noGrp="1"/>
          </p:cNvSpPr>
          <p:nvPr>
            <p:ph idx="1"/>
          </p:nvPr>
        </p:nvSpPr>
        <p:spPr/>
        <p:txBody>
          <a:bodyPr/>
          <a:lstStyle/>
          <a:p>
            <a:pPr marL="0" indent="0">
              <a:buNone/>
            </a:pPr>
            <a:r>
              <a:rPr lang="en-US" dirty="0"/>
              <a:t>The trained model was evaluated using several performance metrics to obtain a comprehensive understanding of its effectiveness.</a:t>
            </a:r>
          </a:p>
          <a:p>
            <a:pPr marL="0" indent="0">
              <a:buNone/>
            </a:pPr>
            <a:endParaRPr lang="en-US" b="1" dirty="0"/>
          </a:p>
          <a:p>
            <a:pPr marL="0" indent="0">
              <a:buNone/>
            </a:pPr>
            <a:r>
              <a:rPr lang="en-US" b="1" dirty="0"/>
              <a:t>Accuracy</a:t>
            </a:r>
          </a:p>
          <a:p>
            <a:r>
              <a:rPr lang="en-US" dirty="0"/>
              <a:t>Accuracy measures the proportion of correctly predicted instances among all predictions. It provides an overall measure of model performance.</a:t>
            </a:r>
          </a:p>
          <a:p>
            <a:r>
              <a:rPr lang="en-US" dirty="0"/>
              <a:t>However, accuracy alone may not fully represent performance when the dataset is imbalanced.</a:t>
            </a:r>
          </a:p>
        </p:txBody>
      </p:sp>
    </p:spTree>
    <p:extLst>
      <p:ext uri="{BB962C8B-B14F-4D97-AF65-F5344CB8AC3E}">
        <p14:creationId xmlns:p14="http://schemas.microsoft.com/office/powerpoint/2010/main" val="2848442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EB85D6-8BDF-05B0-BE31-1CE0C520BD1C}"/>
              </a:ext>
            </a:extLst>
          </p:cNvPr>
          <p:cNvSpPr>
            <a:spLocks noGrp="1"/>
          </p:cNvSpPr>
          <p:nvPr>
            <p:ph idx="1"/>
          </p:nvPr>
        </p:nvSpPr>
        <p:spPr>
          <a:xfrm>
            <a:off x="838200" y="0"/>
            <a:ext cx="10515600" cy="6176963"/>
          </a:xfrm>
        </p:spPr>
        <p:txBody>
          <a:bodyPr>
            <a:noAutofit/>
          </a:bodyPr>
          <a:lstStyle/>
          <a:p>
            <a:pPr marL="0" indent="0">
              <a:buNone/>
            </a:pPr>
            <a:r>
              <a:rPr lang="en-US" b="1" dirty="0"/>
              <a:t>Precision</a:t>
            </a:r>
          </a:p>
          <a:p>
            <a:r>
              <a:rPr lang="en-US" dirty="0"/>
              <a:t>Precision measures the proportion of predicted churn cases that were actually churned customers.</a:t>
            </a:r>
          </a:p>
          <a:p>
            <a:r>
              <a:rPr lang="en-US" dirty="0"/>
              <a:t>This metric is important when minimizing false positives is a priority.</a:t>
            </a:r>
            <a:br>
              <a:rPr lang="en-US" dirty="0"/>
            </a:br>
            <a:endParaRPr lang="en-US" dirty="0"/>
          </a:p>
          <a:p>
            <a:pPr marL="0" indent="0">
              <a:buNone/>
            </a:pPr>
            <a:r>
              <a:rPr lang="en-US" b="1" dirty="0"/>
              <a:t>Recall</a:t>
            </a:r>
          </a:p>
          <a:p>
            <a:r>
              <a:rPr lang="en-US" dirty="0"/>
              <a:t>Recall measures the proportion of actual churned customers that were correctly identified by the model.</a:t>
            </a:r>
          </a:p>
          <a:p>
            <a:r>
              <a:rPr lang="en-US" dirty="0"/>
              <a:t>In churn prediction, recall is especially important because failing to identify churn customers may lead to lost revenue opportunities.</a:t>
            </a:r>
            <a:br>
              <a:rPr lang="en-US" dirty="0"/>
            </a:br>
            <a:endParaRPr lang="en-US" dirty="0"/>
          </a:p>
          <a:p>
            <a:pPr marL="0" indent="0">
              <a:buNone/>
            </a:pPr>
            <a:r>
              <a:rPr lang="en-US" b="1" dirty="0"/>
              <a:t>F1 Score</a:t>
            </a:r>
          </a:p>
          <a:p>
            <a:r>
              <a:rPr lang="en-US" dirty="0"/>
              <a:t>The F1 score is the harmonic mean of precision and recall. It provides a balanced evaluation of model performance when both false positives and false negatives are important.</a:t>
            </a:r>
          </a:p>
          <a:p>
            <a:pPr marL="0" indent="0">
              <a:buNone/>
            </a:pPr>
            <a:endParaRPr lang="en-IN" dirty="0"/>
          </a:p>
        </p:txBody>
      </p:sp>
    </p:spTree>
    <p:extLst>
      <p:ext uri="{BB962C8B-B14F-4D97-AF65-F5344CB8AC3E}">
        <p14:creationId xmlns:p14="http://schemas.microsoft.com/office/powerpoint/2010/main" val="3657831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4C386C-BF54-CD79-27B1-8D972229816E}"/>
              </a:ext>
            </a:extLst>
          </p:cNvPr>
          <p:cNvPicPr>
            <a:picLocks noGrp="1" noChangeAspect="1"/>
          </p:cNvPicPr>
          <p:nvPr>
            <p:ph idx="1"/>
          </p:nvPr>
        </p:nvPicPr>
        <p:blipFill>
          <a:blip r:embed="rId2"/>
          <a:stretch>
            <a:fillRect/>
          </a:stretch>
        </p:blipFill>
        <p:spPr>
          <a:xfrm>
            <a:off x="827809" y="1163783"/>
            <a:ext cx="10536382" cy="3917372"/>
          </a:xfrm>
          <a:prstGeom prst="rect">
            <a:avLst/>
          </a:prstGeom>
        </p:spPr>
      </p:pic>
    </p:spTree>
    <p:extLst>
      <p:ext uri="{BB962C8B-B14F-4D97-AF65-F5344CB8AC3E}">
        <p14:creationId xmlns:p14="http://schemas.microsoft.com/office/powerpoint/2010/main" val="1966078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EF18B-B0C1-C30F-A29F-CF5277327FB0}"/>
              </a:ext>
            </a:extLst>
          </p:cNvPr>
          <p:cNvSpPr>
            <a:spLocks noGrp="1"/>
          </p:cNvSpPr>
          <p:nvPr>
            <p:ph idx="1"/>
          </p:nvPr>
        </p:nvSpPr>
        <p:spPr>
          <a:xfrm>
            <a:off x="838200" y="135082"/>
            <a:ext cx="10515600" cy="6041881"/>
          </a:xfrm>
        </p:spPr>
        <p:txBody>
          <a:bodyPr/>
          <a:lstStyle/>
          <a:p>
            <a:pPr marL="0" indent="0">
              <a:buNone/>
            </a:pPr>
            <a:r>
              <a:rPr lang="en-US" b="1" dirty="0"/>
              <a:t>Confusion Matrix</a:t>
            </a:r>
          </a:p>
          <a:p>
            <a:r>
              <a:rPr lang="en-US" dirty="0"/>
              <a:t>A confusion matrix was used to visualize the classification results and understand the types of prediction errors.</a:t>
            </a:r>
          </a:p>
          <a:p>
            <a:r>
              <a:rPr lang="en-US" dirty="0"/>
              <a:t>The confusion matrix contains four components:</a:t>
            </a:r>
          </a:p>
          <a:p>
            <a:pPr marL="0" indent="0">
              <a:buNone/>
            </a:pPr>
            <a:r>
              <a:rPr lang="en-US" dirty="0"/>
              <a:t>This analysis helps evaluate the practical reliability of the model.</a:t>
            </a:r>
            <a:endParaRPr lang="en-IN" dirty="0"/>
          </a:p>
        </p:txBody>
      </p:sp>
      <p:graphicFrame>
        <p:nvGraphicFramePr>
          <p:cNvPr id="6" name="Table 5">
            <a:extLst>
              <a:ext uri="{FF2B5EF4-FFF2-40B4-BE49-F238E27FC236}">
                <a16:creationId xmlns:a16="http://schemas.microsoft.com/office/drawing/2014/main" id="{71416204-D4A0-B0FB-A84F-755B359DE870}"/>
              </a:ext>
            </a:extLst>
          </p:cNvPr>
          <p:cNvGraphicFramePr>
            <a:graphicFrameLocks noGrp="1"/>
          </p:cNvGraphicFramePr>
          <p:nvPr>
            <p:extLst>
              <p:ext uri="{D42A27DB-BD31-4B8C-83A1-F6EECF244321}">
                <p14:modId xmlns:p14="http://schemas.microsoft.com/office/powerpoint/2010/main" val="1566752217"/>
              </p:ext>
            </p:extLst>
          </p:nvPr>
        </p:nvGraphicFramePr>
        <p:xfrm>
          <a:off x="838200" y="2722419"/>
          <a:ext cx="10515600" cy="3744597"/>
        </p:xfrm>
        <a:graphic>
          <a:graphicData uri="http://schemas.openxmlformats.org/drawingml/2006/table">
            <a:tbl>
              <a:tblPr/>
              <a:tblGrid>
                <a:gridCol w="5257800">
                  <a:extLst>
                    <a:ext uri="{9D8B030D-6E8A-4147-A177-3AD203B41FA5}">
                      <a16:colId xmlns:a16="http://schemas.microsoft.com/office/drawing/2014/main" val="3752750640"/>
                    </a:ext>
                  </a:extLst>
                </a:gridCol>
                <a:gridCol w="5257800">
                  <a:extLst>
                    <a:ext uri="{9D8B030D-6E8A-4147-A177-3AD203B41FA5}">
                      <a16:colId xmlns:a16="http://schemas.microsoft.com/office/drawing/2014/main" val="659623443"/>
                    </a:ext>
                  </a:extLst>
                </a:gridCol>
              </a:tblGrid>
              <a:tr h="525374">
                <a:tc>
                  <a:txBody>
                    <a:bodyPr/>
                    <a:lstStyle/>
                    <a:p>
                      <a:pPr>
                        <a:buNone/>
                      </a:pPr>
                      <a:r>
                        <a:rPr lang="en-IN" sz="2800" b="1" dirty="0"/>
                        <a:t>Prediction Type</a:t>
                      </a:r>
                    </a:p>
                  </a:txBody>
                  <a:tcPr anchor="ctr">
                    <a:lnL>
                      <a:noFill/>
                    </a:lnL>
                    <a:lnR>
                      <a:noFill/>
                    </a:lnR>
                    <a:lnT>
                      <a:noFill/>
                    </a:lnT>
                    <a:lnB>
                      <a:noFill/>
                    </a:lnB>
                    <a:noFill/>
                  </a:tcPr>
                </a:tc>
                <a:tc>
                  <a:txBody>
                    <a:bodyPr/>
                    <a:lstStyle/>
                    <a:p>
                      <a:pPr>
                        <a:buNone/>
                      </a:pPr>
                      <a:r>
                        <a:rPr lang="en-IN" sz="2800" b="1" dirty="0"/>
                        <a:t>Explanation</a:t>
                      </a:r>
                    </a:p>
                  </a:txBody>
                  <a:tcPr anchor="ctr">
                    <a:lnL>
                      <a:noFill/>
                    </a:lnL>
                    <a:lnR>
                      <a:noFill/>
                    </a:lnR>
                    <a:lnT>
                      <a:noFill/>
                    </a:lnT>
                    <a:lnB>
                      <a:noFill/>
                    </a:lnB>
                    <a:noFill/>
                  </a:tcPr>
                </a:tc>
                <a:extLst>
                  <a:ext uri="{0D108BD9-81ED-4DB2-BD59-A6C34878D82A}">
                    <a16:rowId xmlns:a16="http://schemas.microsoft.com/office/drawing/2014/main" val="2348108866"/>
                  </a:ext>
                </a:extLst>
              </a:tr>
              <a:tr h="525374">
                <a:tc>
                  <a:txBody>
                    <a:bodyPr/>
                    <a:lstStyle/>
                    <a:p>
                      <a:pPr>
                        <a:buNone/>
                      </a:pPr>
                      <a:r>
                        <a:rPr lang="en-IN" sz="2800" dirty="0"/>
                        <a:t>True Positive</a:t>
                      </a:r>
                    </a:p>
                  </a:txBody>
                  <a:tcPr anchor="ctr">
                    <a:lnL>
                      <a:noFill/>
                    </a:lnL>
                    <a:lnR>
                      <a:noFill/>
                    </a:lnR>
                    <a:lnT>
                      <a:noFill/>
                    </a:lnT>
                    <a:lnB>
                      <a:noFill/>
                    </a:lnB>
                    <a:noFill/>
                  </a:tcPr>
                </a:tc>
                <a:tc>
                  <a:txBody>
                    <a:bodyPr/>
                    <a:lstStyle/>
                    <a:p>
                      <a:pPr>
                        <a:buNone/>
                      </a:pPr>
                      <a:r>
                        <a:rPr lang="en-IN" sz="2800"/>
                        <a:t>Correctly predicted churn</a:t>
                      </a:r>
                    </a:p>
                  </a:txBody>
                  <a:tcPr anchor="ctr">
                    <a:lnL>
                      <a:noFill/>
                    </a:lnL>
                    <a:lnR>
                      <a:noFill/>
                    </a:lnR>
                    <a:lnT>
                      <a:noFill/>
                    </a:lnT>
                    <a:lnB>
                      <a:noFill/>
                    </a:lnB>
                    <a:noFill/>
                  </a:tcPr>
                </a:tc>
                <a:extLst>
                  <a:ext uri="{0D108BD9-81ED-4DB2-BD59-A6C34878D82A}">
                    <a16:rowId xmlns:a16="http://schemas.microsoft.com/office/drawing/2014/main" val="1814185676"/>
                  </a:ext>
                </a:extLst>
              </a:tr>
              <a:tr h="525374">
                <a:tc>
                  <a:txBody>
                    <a:bodyPr/>
                    <a:lstStyle/>
                    <a:p>
                      <a:pPr>
                        <a:buNone/>
                      </a:pPr>
                      <a:r>
                        <a:rPr lang="en-IN" sz="2800" dirty="0"/>
                        <a:t>True Negative</a:t>
                      </a:r>
                    </a:p>
                  </a:txBody>
                  <a:tcPr anchor="ctr">
                    <a:lnL>
                      <a:noFill/>
                    </a:lnL>
                    <a:lnR>
                      <a:noFill/>
                    </a:lnR>
                    <a:lnT>
                      <a:noFill/>
                    </a:lnT>
                    <a:lnB>
                      <a:noFill/>
                    </a:lnB>
                    <a:noFill/>
                  </a:tcPr>
                </a:tc>
                <a:tc>
                  <a:txBody>
                    <a:bodyPr/>
                    <a:lstStyle/>
                    <a:p>
                      <a:pPr>
                        <a:buNone/>
                      </a:pPr>
                      <a:r>
                        <a:rPr lang="en-IN" sz="2800"/>
                        <a:t>Correctly predicted non-churn</a:t>
                      </a:r>
                    </a:p>
                  </a:txBody>
                  <a:tcPr anchor="ctr">
                    <a:lnL>
                      <a:noFill/>
                    </a:lnL>
                    <a:lnR>
                      <a:noFill/>
                    </a:lnR>
                    <a:lnT>
                      <a:noFill/>
                    </a:lnT>
                    <a:lnB>
                      <a:noFill/>
                    </a:lnB>
                    <a:noFill/>
                  </a:tcPr>
                </a:tc>
                <a:extLst>
                  <a:ext uri="{0D108BD9-81ED-4DB2-BD59-A6C34878D82A}">
                    <a16:rowId xmlns:a16="http://schemas.microsoft.com/office/drawing/2014/main" val="2875366215"/>
                  </a:ext>
                </a:extLst>
              </a:tr>
              <a:tr h="1223595">
                <a:tc>
                  <a:txBody>
                    <a:bodyPr/>
                    <a:lstStyle/>
                    <a:p>
                      <a:pPr>
                        <a:buNone/>
                      </a:pPr>
                      <a:r>
                        <a:rPr lang="en-IN" sz="2800" dirty="0"/>
                        <a:t>False Positive</a:t>
                      </a:r>
                    </a:p>
                  </a:txBody>
                  <a:tcPr anchor="ctr">
                    <a:lnL>
                      <a:noFill/>
                    </a:lnL>
                    <a:lnR>
                      <a:noFill/>
                    </a:lnR>
                    <a:lnT>
                      <a:noFill/>
                    </a:lnT>
                    <a:lnB>
                      <a:noFill/>
                    </a:lnB>
                    <a:noFill/>
                  </a:tcPr>
                </a:tc>
                <a:tc>
                  <a:txBody>
                    <a:bodyPr/>
                    <a:lstStyle/>
                    <a:p>
                      <a:pPr>
                        <a:buNone/>
                      </a:pPr>
                      <a:r>
                        <a:rPr lang="en-US" sz="2800" dirty="0"/>
                        <a:t>Predicted churn but customer stayed</a:t>
                      </a:r>
                    </a:p>
                  </a:txBody>
                  <a:tcPr anchor="ctr">
                    <a:lnL>
                      <a:noFill/>
                    </a:lnL>
                    <a:lnR>
                      <a:noFill/>
                    </a:lnR>
                    <a:lnT>
                      <a:noFill/>
                    </a:lnT>
                    <a:lnB>
                      <a:noFill/>
                    </a:lnB>
                    <a:noFill/>
                  </a:tcPr>
                </a:tc>
                <a:extLst>
                  <a:ext uri="{0D108BD9-81ED-4DB2-BD59-A6C34878D82A}">
                    <a16:rowId xmlns:a16="http://schemas.microsoft.com/office/drawing/2014/main" val="654603321"/>
                  </a:ext>
                </a:extLst>
              </a:tr>
              <a:tr h="525374">
                <a:tc>
                  <a:txBody>
                    <a:bodyPr/>
                    <a:lstStyle/>
                    <a:p>
                      <a:pPr>
                        <a:buNone/>
                      </a:pPr>
                      <a:r>
                        <a:rPr lang="en-IN" sz="2800"/>
                        <a:t>False Negative</a:t>
                      </a:r>
                    </a:p>
                  </a:txBody>
                  <a:tcPr anchor="ctr">
                    <a:lnL>
                      <a:noFill/>
                    </a:lnL>
                    <a:lnR>
                      <a:noFill/>
                    </a:lnR>
                    <a:lnT>
                      <a:noFill/>
                    </a:lnT>
                    <a:lnB>
                      <a:noFill/>
                    </a:lnB>
                    <a:noFill/>
                  </a:tcPr>
                </a:tc>
                <a:tc>
                  <a:txBody>
                    <a:bodyPr/>
                    <a:lstStyle/>
                    <a:p>
                      <a:pPr>
                        <a:buNone/>
                      </a:pPr>
                      <a:r>
                        <a:rPr lang="en-US" sz="2800" dirty="0"/>
                        <a:t>Customer churned but model predicted retention</a:t>
                      </a:r>
                    </a:p>
                  </a:txBody>
                  <a:tcPr anchor="ctr">
                    <a:lnL>
                      <a:noFill/>
                    </a:lnL>
                    <a:lnR>
                      <a:noFill/>
                    </a:lnR>
                    <a:lnT>
                      <a:noFill/>
                    </a:lnT>
                    <a:lnB>
                      <a:noFill/>
                    </a:lnB>
                    <a:noFill/>
                  </a:tcPr>
                </a:tc>
                <a:extLst>
                  <a:ext uri="{0D108BD9-81ED-4DB2-BD59-A6C34878D82A}">
                    <a16:rowId xmlns:a16="http://schemas.microsoft.com/office/drawing/2014/main" val="4171081594"/>
                  </a:ext>
                </a:extLst>
              </a:tr>
            </a:tbl>
          </a:graphicData>
        </a:graphic>
      </p:graphicFrame>
    </p:spTree>
    <p:extLst>
      <p:ext uri="{BB962C8B-B14F-4D97-AF65-F5344CB8AC3E}">
        <p14:creationId xmlns:p14="http://schemas.microsoft.com/office/powerpoint/2010/main" val="1080648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7F4AD0-8B95-15F2-1165-32424437D31E}"/>
              </a:ext>
            </a:extLst>
          </p:cNvPr>
          <p:cNvPicPr>
            <a:picLocks noGrp="1" noChangeAspect="1"/>
          </p:cNvPicPr>
          <p:nvPr>
            <p:ph idx="1"/>
          </p:nvPr>
        </p:nvPicPr>
        <p:blipFill>
          <a:blip r:embed="rId2"/>
          <a:stretch>
            <a:fillRect/>
          </a:stretch>
        </p:blipFill>
        <p:spPr>
          <a:xfrm>
            <a:off x="1924050" y="280554"/>
            <a:ext cx="8343900" cy="5865236"/>
          </a:xfrm>
          <a:prstGeom prst="rect">
            <a:avLst/>
          </a:prstGeom>
        </p:spPr>
      </p:pic>
    </p:spTree>
    <p:extLst>
      <p:ext uri="{BB962C8B-B14F-4D97-AF65-F5344CB8AC3E}">
        <p14:creationId xmlns:p14="http://schemas.microsoft.com/office/powerpoint/2010/main" val="107100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0D8501-4DCE-9CAA-DE5B-207A09320388}"/>
              </a:ext>
            </a:extLst>
          </p:cNvPr>
          <p:cNvSpPr>
            <a:spLocks noGrp="1"/>
          </p:cNvSpPr>
          <p:nvPr>
            <p:ph idx="1"/>
          </p:nvPr>
        </p:nvSpPr>
        <p:spPr>
          <a:xfrm>
            <a:off x="838200" y="685800"/>
            <a:ext cx="10515600" cy="5491163"/>
          </a:xfrm>
        </p:spPr>
        <p:txBody>
          <a:bodyPr/>
          <a:lstStyle/>
          <a:p>
            <a:pPr marL="0" indent="0">
              <a:buNone/>
            </a:pPr>
            <a:r>
              <a:rPr lang="en-US" b="1" dirty="0"/>
              <a:t>ROC-AUC Score</a:t>
            </a:r>
          </a:p>
          <a:p>
            <a:r>
              <a:rPr lang="en-US" dirty="0"/>
              <a:t>The Receiver Operating Characteristic – Area Under Curve (ROC-AUC) metric evaluates the model’s ability to distinguish between churned and retained customers across different probability thresholds.</a:t>
            </a:r>
          </a:p>
          <a:p>
            <a:r>
              <a:rPr lang="en-US" dirty="0"/>
              <a:t>A higher ROC-AUC score indicates stronger classification performance.</a:t>
            </a:r>
          </a:p>
          <a:p>
            <a:pPr marL="0" indent="0">
              <a:buNone/>
            </a:pPr>
            <a:endParaRPr lang="en-IN" dirty="0"/>
          </a:p>
        </p:txBody>
      </p:sp>
      <p:pic>
        <p:nvPicPr>
          <p:cNvPr id="5" name="Picture 4">
            <a:extLst>
              <a:ext uri="{FF2B5EF4-FFF2-40B4-BE49-F238E27FC236}">
                <a16:creationId xmlns:a16="http://schemas.microsoft.com/office/drawing/2014/main" id="{CC7AD240-B240-F1ED-A2A1-A15EB17A8233}"/>
              </a:ext>
            </a:extLst>
          </p:cNvPr>
          <p:cNvPicPr>
            <a:picLocks noChangeAspect="1"/>
          </p:cNvPicPr>
          <p:nvPr/>
        </p:nvPicPr>
        <p:blipFill>
          <a:blip r:embed="rId2"/>
          <a:stretch>
            <a:fillRect/>
          </a:stretch>
        </p:blipFill>
        <p:spPr>
          <a:xfrm>
            <a:off x="1778577" y="3771170"/>
            <a:ext cx="8634845" cy="2130866"/>
          </a:xfrm>
          <a:prstGeom prst="rect">
            <a:avLst/>
          </a:prstGeom>
        </p:spPr>
      </p:pic>
    </p:spTree>
    <p:extLst>
      <p:ext uri="{BB962C8B-B14F-4D97-AF65-F5344CB8AC3E}">
        <p14:creationId xmlns:p14="http://schemas.microsoft.com/office/powerpoint/2010/main" val="8778823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F2C1-4818-37C3-6FC9-211B0301C546}"/>
              </a:ext>
            </a:extLst>
          </p:cNvPr>
          <p:cNvSpPr>
            <a:spLocks noGrp="1"/>
          </p:cNvSpPr>
          <p:nvPr>
            <p:ph type="title"/>
          </p:nvPr>
        </p:nvSpPr>
        <p:spPr>
          <a:xfrm>
            <a:off x="3803072" y="1"/>
            <a:ext cx="7550727" cy="1350817"/>
          </a:xfrm>
        </p:spPr>
        <p:txBody>
          <a:bodyPr>
            <a:normAutofit/>
          </a:bodyPr>
          <a:lstStyle/>
          <a:p>
            <a:r>
              <a:rPr lang="en-IN" sz="4800" b="1" dirty="0">
                <a:latin typeface="+mn-lt"/>
              </a:rPr>
              <a:t>Model Insights</a:t>
            </a:r>
          </a:p>
        </p:txBody>
      </p:sp>
      <p:sp>
        <p:nvSpPr>
          <p:cNvPr id="3" name="Content Placeholder 2">
            <a:extLst>
              <a:ext uri="{FF2B5EF4-FFF2-40B4-BE49-F238E27FC236}">
                <a16:creationId xmlns:a16="http://schemas.microsoft.com/office/drawing/2014/main" id="{1FC14535-E373-68D6-8E95-94E84B771E8B}"/>
              </a:ext>
            </a:extLst>
          </p:cNvPr>
          <p:cNvSpPr>
            <a:spLocks noGrp="1"/>
          </p:cNvSpPr>
          <p:nvPr>
            <p:ph idx="1"/>
          </p:nvPr>
        </p:nvSpPr>
        <p:spPr>
          <a:xfrm>
            <a:off x="0" y="1143001"/>
            <a:ext cx="12192000" cy="5715000"/>
          </a:xfrm>
        </p:spPr>
        <p:txBody>
          <a:bodyPr>
            <a:noAutofit/>
          </a:bodyPr>
          <a:lstStyle/>
          <a:p>
            <a:r>
              <a:rPr lang="en-US" dirty="0"/>
              <a:t>The model provided several insights into customer </a:t>
            </a:r>
            <a:r>
              <a:rPr lang="en-US" dirty="0" err="1"/>
              <a:t>behaviour</a:t>
            </a:r>
            <a:r>
              <a:rPr lang="en-US" dirty="0"/>
              <a:t> patterns associated with churn.</a:t>
            </a:r>
          </a:p>
          <a:p>
            <a:pPr marL="0" indent="0">
              <a:buNone/>
            </a:pPr>
            <a:r>
              <a:rPr lang="en-US" b="1" dirty="0"/>
              <a:t>Login Frequency</a:t>
            </a:r>
            <a:endParaRPr lang="en-US" dirty="0"/>
          </a:p>
          <a:p>
            <a:r>
              <a:rPr lang="en-US" dirty="0"/>
              <a:t>Customers with lower login frequency were more likely to churn, suggesting that reduced engagement with digital banking services may indicate dissatisfaction or declining interest.</a:t>
            </a:r>
          </a:p>
          <a:p>
            <a:pPr marL="0" indent="0">
              <a:buNone/>
            </a:pPr>
            <a:r>
              <a:rPr lang="en-US" b="1" dirty="0"/>
              <a:t>Transaction Behavior</a:t>
            </a:r>
            <a:endParaRPr lang="en-US" dirty="0"/>
          </a:p>
          <a:p>
            <a:r>
              <a:rPr lang="en-US" dirty="0"/>
              <a:t>Customers with lower transaction activity were more likely to discontinue their relationship with the bank.</a:t>
            </a:r>
          </a:p>
          <a:p>
            <a:pPr marL="0" indent="0">
              <a:buNone/>
            </a:pPr>
            <a:r>
              <a:rPr lang="en-US" b="1" dirty="0"/>
              <a:t>Service Usage</a:t>
            </a:r>
            <a:endParaRPr lang="en-US" dirty="0"/>
          </a:p>
          <a:p>
            <a:r>
              <a:rPr lang="en-US" dirty="0"/>
              <a:t>Customers who rarely used online banking services showed higher churn probability compared to digitally active customers.</a:t>
            </a:r>
          </a:p>
          <a:p>
            <a:pPr marL="0" indent="0">
              <a:buNone/>
            </a:pPr>
            <a:endParaRPr lang="en-IN" dirty="0"/>
          </a:p>
        </p:txBody>
      </p:sp>
    </p:spTree>
    <p:extLst>
      <p:ext uri="{BB962C8B-B14F-4D97-AF65-F5344CB8AC3E}">
        <p14:creationId xmlns:p14="http://schemas.microsoft.com/office/powerpoint/2010/main" val="4089926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6DF83-6C09-E785-DAEF-6CD7D5853C9C}"/>
              </a:ext>
            </a:extLst>
          </p:cNvPr>
          <p:cNvSpPr>
            <a:spLocks noGrp="1"/>
          </p:cNvSpPr>
          <p:nvPr>
            <p:ph idx="1"/>
          </p:nvPr>
        </p:nvSpPr>
        <p:spPr>
          <a:xfrm>
            <a:off x="838200" y="540327"/>
            <a:ext cx="10515600" cy="5636636"/>
          </a:xfrm>
        </p:spPr>
        <p:txBody>
          <a:bodyPr/>
          <a:lstStyle/>
          <a:p>
            <a:pPr marL="0" indent="0">
              <a:buNone/>
            </a:pPr>
            <a:r>
              <a:rPr lang="en-US" b="1" dirty="0"/>
              <a:t>Income Level</a:t>
            </a:r>
            <a:endParaRPr lang="en-US" dirty="0"/>
          </a:p>
          <a:p>
            <a:r>
              <a:rPr lang="en-US" dirty="0"/>
              <a:t>Income segments showed slight differences in churn </a:t>
            </a:r>
            <a:r>
              <a:rPr lang="en-US" dirty="0" err="1"/>
              <a:t>behaviour</a:t>
            </a:r>
            <a:r>
              <a:rPr lang="en-US" dirty="0"/>
              <a:t>, indicating that financial capacity may influence customer retention.</a:t>
            </a:r>
          </a:p>
          <a:p>
            <a:r>
              <a:rPr lang="en-US" dirty="0"/>
              <a:t>These insights provide valuable guidance for targeted retention initiatives.</a:t>
            </a:r>
          </a:p>
          <a:p>
            <a:pPr marL="0" indent="0">
              <a:buNone/>
            </a:pPr>
            <a:endParaRPr lang="en-IN" dirty="0"/>
          </a:p>
        </p:txBody>
      </p:sp>
      <p:pic>
        <p:nvPicPr>
          <p:cNvPr id="5" name="Picture 4">
            <a:extLst>
              <a:ext uri="{FF2B5EF4-FFF2-40B4-BE49-F238E27FC236}">
                <a16:creationId xmlns:a16="http://schemas.microsoft.com/office/drawing/2014/main" id="{03E3CAC9-2EA8-CF73-F763-2B721FB12B46}"/>
              </a:ext>
            </a:extLst>
          </p:cNvPr>
          <p:cNvPicPr>
            <a:picLocks noChangeAspect="1"/>
          </p:cNvPicPr>
          <p:nvPr/>
        </p:nvPicPr>
        <p:blipFill>
          <a:blip r:embed="rId2"/>
          <a:stretch>
            <a:fillRect/>
          </a:stretch>
        </p:blipFill>
        <p:spPr>
          <a:xfrm>
            <a:off x="2883478" y="3013364"/>
            <a:ext cx="6425044" cy="3844636"/>
          </a:xfrm>
          <a:prstGeom prst="rect">
            <a:avLst/>
          </a:prstGeom>
        </p:spPr>
      </p:pic>
    </p:spTree>
    <p:extLst>
      <p:ext uri="{BB962C8B-B14F-4D97-AF65-F5344CB8AC3E}">
        <p14:creationId xmlns:p14="http://schemas.microsoft.com/office/powerpoint/2010/main" val="1893454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2867-FEEB-792F-4160-1255A45B7448}"/>
              </a:ext>
            </a:extLst>
          </p:cNvPr>
          <p:cNvSpPr>
            <a:spLocks noGrp="1"/>
          </p:cNvSpPr>
          <p:nvPr>
            <p:ph type="title"/>
          </p:nvPr>
        </p:nvSpPr>
        <p:spPr>
          <a:xfrm>
            <a:off x="3106882" y="1"/>
            <a:ext cx="8246918" cy="1319644"/>
          </a:xfrm>
        </p:spPr>
        <p:txBody>
          <a:bodyPr>
            <a:normAutofit/>
          </a:bodyPr>
          <a:lstStyle/>
          <a:p>
            <a:r>
              <a:rPr lang="en-IN" sz="4800" b="1" dirty="0">
                <a:latin typeface="+mn-lt"/>
              </a:rPr>
              <a:t>Business Applications</a:t>
            </a:r>
          </a:p>
        </p:txBody>
      </p:sp>
      <p:sp>
        <p:nvSpPr>
          <p:cNvPr id="3" name="Content Placeholder 2">
            <a:extLst>
              <a:ext uri="{FF2B5EF4-FFF2-40B4-BE49-F238E27FC236}">
                <a16:creationId xmlns:a16="http://schemas.microsoft.com/office/drawing/2014/main" id="{CF1C2E2E-E317-304A-437A-96C97AFB5687}"/>
              </a:ext>
            </a:extLst>
          </p:cNvPr>
          <p:cNvSpPr>
            <a:spLocks noGrp="1"/>
          </p:cNvSpPr>
          <p:nvPr>
            <p:ph idx="1"/>
          </p:nvPr>
        </p:nvSpPr>
        <p:spPr>
          <a:xfrm>
            <a:off x="0" y="1319646"/>
            <a:ext cx="12192000" cy="5538354"/>
          </a:xfrm>
        </p:spPr>
        <p:txBody>
          <a:bodyPr>
            <a:noAutofit/>
          </a:bodyPr>
          <a:lstStyle/>
          <a:p>
            <a:pPr marL="0" indent="0">
              <a:buNone/>
            </a:pPr>
            <a:r>
              <a:rPr lang="en-US" dirty="0"/>
              <a:t>The predictive churn model can support several business initiatives at Lloyds Banking Group.</a:t>
            </a:r>
          </a:p>
          <a:p>
            <a:pPr marL="0" indent="0">
              <a:buNone/>
            </a:pPr>
            <a:r>
              <a:rPr lang="en-US" b="1" dirty="0"/>
              <a:t>Targeted Customer Retention</a:t>
            </a:r>
          </a:p>
          <a:p>
            <a:r>
              <a:rPr lang="en-US" dirty="0"/>
              <a:t>The model can identify high-risk customers, enabling the bank to proactively offer personalized retention incentives.</a:t>
            </a:r>
          </a:p>
          <a:p>
            <a:pPr marL="0" indent="0">
              <a:buNone/>
            </a:pPr>
            <a:r>
              <a:rPr lang="en-US" b="1" dirty="0"/>
              <a:t>Personalized Engagement</a:t>
            </a:r>
          </a:p>
          <a:p>
            <a:r>
              <a:rPr lang="en-US" dirty="0"/>
              <a:t>Customers with declining digital activity can receive tailored communication encouraging them to use digital banking services more frequently.</a:t>
            </a:r>
          </a:p>
          <a:p>
            <a:pPr marL="0" indent="0">
              <a:buNone/>
            </a:pPr>
            <a:r>
              <a:rPr lang="en-US" b="1" dirty="0"/>
              <a:t>Customer Support Interventions</a:t>
            </a:r>
          </a:p>
          <a:p>
            <a:r>
              <a:rPr lang="en-US" dirty="0"/>
              <a:t>Customers who frequently contact customer support can be identified early and provided with improved service experiences.</a:t>
            </a:r>
            <a:endParaRPr lang="en-IN" dirty="0"/>
          </a:p>
        </p:txBody>
      </p:sp>
    </p:spTree>
    <p:extLst>
      <p:ext uri="{BB962C8B-B14F-4D97-AF65-F5344CB8AC3E}">
        <p14:creationId xmlns:p14="http://schemas.microsoft.com/office/powerpoint/2010/main" val="3948263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93CEF6-FBA5-928B-74F4-8E273C2904B0}"/>
              </a:ext>
            </a:extLst>
          </p:cNvPr>
          <p:cNvSpPr>
            <a:spLocks noGrp="1"/>
          </p:cNvSpPr>
          <p:nvPr>
            <p:ph idx="1"/>
          </p:nvPr>
        </p:nvSpPr>
        <p:spPr>
          <a:xfrm>
            <a:off x="838200" y="602673"/>
            <a:ext cx="10515600" cy="5574290"/>
          </a:xfrm>
        </p:spPr>
        <p:txBody>
          <a:bodyPr/>
          <a:lstStyle/>
          <a:p>
            <a:pPr marL="0" indent="0">
              <a:buNone/>
            </a:pPr>
            <a:r>
              <a:rPr lang="en-US" b="1" dirty="0"/>
              <a:t>Marketing Optimization</a:t>
            </a:r>
          </a:p>
          <a:p>
            <a:r>
              <a:rPr lang="en-US" dirty="0"/>
              <a:t>Marketing teams can focus their retention campaigns on customers with the highest churn probability, improving campaign efficiency.</a:t>
            </a:r>
          </a:p>
          <a:p>
            <a:pPr marL="0" indent="0">
              <a:buNone/>
            </a:pPr>
            <a:endParaRPr lang="en-IN" dirty="0"/>
          </a:p>
        </p:txBody>
      </p:sp>
      <p:pic>
        <p:nvPicPr>
          <p:cNvPr id="5" name="Picture 4">
            <a:extLst>
              <a:ext uri="{FF2B5EF4-FFF2-40B4-BE49-F238E27FC236}">
                <a16:creationId xmlns:a16="http://schemas.microsoft.com/office/drawing/2014/main" id="{187F9F83-B2D3-248E-F97C-C8CF894F565C}"/>
              </a:ext>
            </a:extLst>
          </p:cNvPr>
          <p:cNvPicPr>
            <a:picLocks noChangeAspect="1"/>
          </p:cNvPicPr>
          <p:nvPr/>
        </p:nvPicPr>
        <p:blipFill>
          <a:blip r:embed="rId2"/>
          <a:stretch>
            <a:fillRect/>
          </a:stretch>
        </p:blipFill>
        <p:spPr>
          <a:xfrm>
            <a:off x="2094968" y="2015836"/>
            <a:ext cx="8002063" cy="4842164"/>
          </a:xfrm>
          <a:prstGeom prst="rect">
            <a:avLst/>
          </a:prstGeom>
        </p:spPr>
      </p:pic>
    </p:spTree>
    <p:extLst>
      <p:ext uri="{BB962C8B-B14F-4D97-AF65-F5344CB8AC3E}">
        <p14:creationId xmlns:p14="http://schemas.microsoft.com/office/powerpoint/2010/main" val="3234583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D1331-5515-E6A1-2A27-17FA2683E09E}"/>
              </a:ext>
            </a:extLst>
          </p:cNvPr>
          <p:cNvSpPr>
            <a:spLocks noGrp="1"/>
          </p:cNvSpPr>
          <p:nvPr>
            <p:ph type="title"/>
          </p:nvPr>
        </p:nvSpPr>
        <p:spPr>
          <a:xfrm>
            <a:off x="3148446" y="1"/>
            <a:ext cx="8205354" cy="1278081"/>
          </a:xfrm>
        </p:spPr>
        <p:txBody>
          <a:bodyPr>
            <a:normAutofit/>
          </a:bodyPr>
          <a:lstStyle/>
          <a:p>
            <a:r>
              <a:rPr lang="en-IN" sz="4800" b="1" dirty="0">
                <a:latin typeface="+mn-lt"/>
              </a:rPr>
              <a:t>Potential Improvements</a:t>
            </a:r>
          </a:p>
        </p:txBody>
      </p:sp>
      <p:sp>
        <p:nvSpPr>
          <p:cNvPr id="3" name="Content Placeholder 2">
            <a:extLst>
              <a:ext uri="{FF2B5EF4-FFF2-40B4-BE49-F238E27FC236}">
                <a16:creationId xmlns:a16="http://schemas.microsoft.com/office/drawing/2014/main" id="{A2344DFD-E36B-EB37-2AA3-30BF785529A9}"/>
              </a:ext>
            </a:extLst>
          </p:cNvPr>
          <p:cNvSpPr>
            <a:spLocks noGrp="1"/>
          </p:cNvSpPr>
          <p:nvPr>
            <p:ph idx="1"/>
          </p:nvPr>
        </p:nvSpPr>
        <p:spPr>
          <a:xfrm>
            <a:off x="93517" y="1402774"/>
            <a:ext cx="11959937" cy="5185062"/>
          </a:xfrm>
        </p:spPr>
        <p:txBody>
          <a:bodyPr>
            <a:normAutofit fontScale="70000" lnSpcReduction="20000"/>
          </a:bodyPr>
          <a:lstStyle/>
          <a:p>
            <a:pPr marL="0" indent="0">
              <a:buNone/>
            </a:pPr>
            <a:r>
              <a:rPr lang="en-US" sz="4500" dirty="0"/>
              <a:t>While the current model provides valuable insights, several improvements could enhance its predictive performance.</a:t>
            </a:r>
          </a:p>
          <a:p>
            <a:pPr marL="0" indent="0">
              <a:buNone/>
            </a:pPr>
            <a:r>
              <a:rPr lang="en-US" sz="4500" b="1" dirty="0"/>
              <a:t>Advanced Algorithms</a:t>
            </a:r>
            <a:endParaRPr lang="en-US" sz="4500" dirty="0"/>
          </a:p>
          <a:p>
            <a:r>
              <a:rPr lang="en-US" sz="4500" dirty="0"/>
              <a:t>Future iterations could evaluate more complex models such as Random Forest, Gradient Boosting, or </a:t>
            </a:r>
            <a:r>
              <a:rPr lang="en-US" sz="4500" dirty="0" err="1"/>
              <a:t>XGBoost</a:t>
            </a:r>
            <a:r>
              <a:rPr lang="en-US" sz="4500" dirty="0"/>
              <a:t> to capture non-linear relationships.</a:t>
            </a:r>
          </a:p>
          <a:p>
            <a:pPr marL="0" indent="0">
              <a:buNone/>
            </a:pPr>
            <a:r>
              <a:rPr lang="en-US" sz="4500" b="1" dirty="0"/>
              <a:t>Handling Class Imbalance</a:t>
            </a:r>
            <a:endParaRPr lang="en-US" sz="4500" dirty="0"/>
          </a:p>
          <a:p>
            <a:r>
              <a:rPr lang="en-US" sz="4500" dirty="0"/>
              <a:t>Techniques such as SMOTE or class weighting could improve the model’s ability to detect churn cases.</a:t>
            </a:r>
          </a:p>
          <a:p>
            <a:pPr marL="0" indent="0">
              <a:buNone/>
            </a:pPr>
            <a:r>
              <a:rPr lang="en-US" sz="4500" b="1" dirty="0"/>
              <a:t>Feature Engineering</a:t>
            </a:r>
            <a:endParaRPr lang="en-US" sz="4500" dirty="0"/>
          </a:p>
          <a:p>
            <a:r>
              <a:rPr lang="en-US" sz="4500" dirty="0"/>
              <a:t>Additional behavioral features, such as customer tenure, transaction trends, and service interaction frequency, may further improve model performance</a:t>
            </a:r>
            <a:r>
              <a:rPr lang="en-US" sz="4000" dirty="0"/>
              <a:t>.</a:t>
            </a:r>
          </a:p>
          <a:p>
            <a:pPr marL="0" indent="0">
              <a:buNone/>
            </a:pPr>
            <a:endParaRPr lang="en-IN" dirty="0"/>
          </a:p>
        </p:txBody>
      </p:sp>
    </p:spTree>
    <p:extLst>
      <p:ext uri="{BB962C8B-B14F-4D97-AF65-F5344CB8AC3E}">
        <p14:creationId xmlns:p14="http://schemas.microsoft.com/office/powerpoint/2010/main" val="2186057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26594-88B3-993B-214D-A0A956F15FC9}"/>
              </a:ext>
            </a:extLst>
          </p:cNvPr>
          <p:cNvSpPr>
            <a:spLocks noGrp="1"/>
          </p:cNvSpPr>
          <p:nvPr>
            <p:ph type="title"/>
          </p:nvPr>
        </p:nvSpPr>
        <p:spPr>
          <a:xfrm>
            <a:off x="4145972" y="124692"/>
            <a:ext cx="7207827" cy="1101436"/>
          </a:xfrm>
        </p:spPr>
        <p:txBody>
          <a:bodyPr>
            <a:normAutofit/>
          </a:bodyPr>
          <a:lstStyle/>
          <a:p>
            <a:r>
              <a:rPr lang="en-IN" sz="4800" b="1" dirty="0">
                <a:latin typeface="+mn-lt"/>
              </a:rPr>
              <a:t>Conclusion</a:t>
            </a:r>
          </a:p>
        </p:txBody>
      </p:sp>
      <p:sp>
        <p:nvSpPr>
          <p:cNvPr id="3" name="Content Placeholder 2">
            <a:extLst>
              <a:ext uri="{FF2B5EF4-FFF2-40B4-BE49-F238E27FC236}">
                <a16:creationId xmlns:a16="http://schemas.microsoft.com/office/drawing/2014/main" id="{1E0DE49F-615F-E91E-F45C-19CAAB3950B7}"/>
              </a:ext>
            </a:extLst>
          </p:cNvPr>
          <p:cNvSpPr>
            <a:spLocks noGrp="1"/>
          </p:cNvSpPr>
          <p:nvPr>
            <p:ph idx="1"/>
          </p:nvPr>
        </p:nvSpPr>
        <p:spPr>
          <a:xfrm>
            <a:off x="-1" y="1371600"/>
            <a:ext cx="12105409" cy="5361709"/>
          </a:xfrm>
        </p:spPr>
        <p:txBody>
          <a:bodyPr>
            <a:noAutofit/>
          </a:bodyPr>
          <a:lstStyle/>
          <a:p>
            <a:r>
              <a:rPr lang="en-US" dirty="0"/>
              <a:t>In this task, a machine learning model was developed to predict customer churn using demographic, behavioral, and transactional data.</a:t>
            </a:r>
          </a:p>
          <a:p>
            <a:r>
              <a:rPr lang="en-US" dirty="0"/>
              <a:t>Logistic Regression was selected due to its interpretability and effectiveness for binary classification problems. The model was trained on a structured dataset prepared in Task 1 and evaluated using multiple performance metrics, including precision, recall, F1 score, and ROC-AUC.</a:t>
            </a:r>
          </a:p>
          <a:p>
            <a:r>
              <a:rPr lang="en-US" dirty="0"/>
              <a:t>The analysis revealed key indicators of churn, such as reduced login frequency and lower transaction activity. These insights can help Lloyds Banking Group implement proactive retention strategies and improve customer engagement.</a:t>
            </a:r>
          </a:p>
          <a:p>
            <a:r>
              <a:rPr lang="en-US" dirty="0"/>
              <a:t>The predictive model provides a strong foundation for data-driven customer retention initiatives and can be further enhanced with advanced machine learning techniques in future iterations.</a:t>
            </a:r>
          </a:p>
          <a:p>
            <a:pPr marL="0" indent="0">
              <a:buNone/>
            </a:pPr>
            <a:endParaRPr lang="en-IN" dirty="0"/>
          </a:p>
        </p:txBody>
      </p:sp>
    </p:spTree>
    <p:extLst>
      <p:ext uri="{BB962C8B-B14F-4D97-AF65-F5344CB8AC3E}">
        <p14:creationId xmlns:p14="http://schemas.microsoft.com/office/powerpoint/2010/main" val="711740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1368</TotalTime>
  <Words>2332</Words>
  <Application>Microsoft Office PowerPoint</Application>
  <PresentationFormat>Widescreen</PresentationFormat>
  <Paragraphs>177</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Customer Churn Data Analysis Report</vt:lpstr>
      <vt:lpstr>Introduction</vt:lpstr>
      <vt:lpstr>Data Gathering and Data Sources</vt:lpstr>
      <vt:lpstr>PowerPoint Presentation</vt:lpstr>
      <vt:lpstr>PowerPoint Presentation</vt:lpstr>
      <vt:lpstr>PowerPoint Presentation</vt:lpstr>
      <vt:lpstr>Data Integration</vt:lpstr>
      <vt:lpstr>PowerPoint Presentation</vt:lpstr>
      <vt:lpstr>Exploratory Data Analysis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Cleaning and Preprocessing</vt:lpstr>
      <vt:lpstr>PowerPoint Presentation</vt:lpstr>
      <vt:lpstr>PowerPoint Presentation</vt:lpstr>
      <vt:lpstr>PowerPoint Presentation</vt:lpstr>
      <vt:lpstr>Final Prepared Dataset</vt:lpstr>
      <vt:lpstr>Conclusion</vt:lpstr>
      <vt:lpstr>Customer Churn Prediction Using Machine Learning</vt:lpstr>
      <vt:lpstr>Introduction</vt:lpstr>
      <vt:lpstr>Problem Definition</vt:lpstr>
      <vt:lpstr>Feature Selection</vt:lpstr>
      <vt:lpstr>PowerPoint Presentation</vt:lpstr>
      <vt:lpstr>Algorithm Selection</vt:lpstr>
      <vt:lpstr>Reasons for Selecting Logistic Regression</vt:lpstr>
      <vt:lpstr>Model Training</vt:lpstr>
      <vt:lpstr>PowerPoint Presentation</vt:lpstr>
      <vt:lpstr>Model Evaluation</vt:lpstr>
      <vt:lpstr>PowerPoint Presentation</vt:lpstr>
      <vt:lpstr>PowerPoint Presentation</vt:lpstr>
      <vt:lpstr>PowerPoint Presentation</vt:lpstr>
      <vt:lpstr>PowerPoint Presentation</vt:lpstr>
      <vt:lpstr>PowerPoint Presentation</vt:lpstr>
      <vt:lpstr>Model Insights</vt:lpstr>
      <vt:lpstr>PowerPoint Presentation</vt:lpstr>
      <vt:lpstr>Business Applications</vt:lpstr>
      <vt:lpstr>PowerPoint Presentation</vt:lpstr>
      <vt:lpstr>Potential Improvements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guleria</dc:creator>
  <cp:lastModifiedBy>sahil guleria</cp:lastModifiedBy>
  <cp:revision>2</cp:revision>
  <dcterms:created xsi:type="dcterms:W3CDTF">2026-03-25T13:24:46Z</dcterms:created>
  <dcterms:modified xsi:type="dcterms:W3CDTF">2026-03-26T12:13:24Z</dcterms:modified>
</cp:coreProperties>
</file>