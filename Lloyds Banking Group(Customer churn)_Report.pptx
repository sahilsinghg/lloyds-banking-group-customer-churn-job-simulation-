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8" r:id="rId6"/>
    <p:sldId id="270" r:id="rId7"/>
    <p:sldId id="260" r:id="rId8"/>
    <p:sldId id="271" r:id="rId9"/>
    <p:sldId id="261" r:id="rId10"/>
    <p:sldId id="262" r:id="rId11"/>
    <p:sldId id="272" r:id="rId12"/>
    <p:sldId id="273" r:id="rId13"/>
    <p:sldId id="274" r:id="rId14"/>
    <p:sldId id="263" r:id="rId15"/>
    <p:sldId id="275" r:id="rId16"/>
    <p:sldId id="276" r:id="rId17"/>
    <p:sldId id="277" r:id="rId18"/>
    <p:sldId id="264" r:id="rId19"/>
    <p:sldId id="278" r:id="rId20"/>
    <p:sldId id="269" r:id="rId21"/>
    <p:sldId id="265" r:id="rId22"/>
    <p:sldId id="266" r:id="rId23"/>
    <p:sldId id="26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E6253-725C-B043-FF19-B54BD17D27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E33EEB8-5B6A-422F-ED2E-1F4BA09D7D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675FE09-4023-7A96-BBF0-D95EE0C116CA}"/>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5" name="Footer Placeholder 4">
            <a:extLst>
              <a:ext uri="{FF2B5EF4-FFF2-40B4-BE49-F238E27FC236}">
                <a16:creationId xmlns:a16="http://schemas.microsoft.com/office/drawing/2014/main" id="{AC9C06D5-A462-A25C-8AA5-6C4E9224DA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09BD5A-C703-AB88-5DC2-D0B2D3985140}"/>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4238222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6415A-5CAC-A918-8A68-DEBEE4B1A1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38A8A79-ADE8-0454-9BB7-A77A73B214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5657D1-7538-B5F4-978D-0C6EF7138F93}"/>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5" name="Footer Placeholder 4">
            <a:extLst>
              <a:ext uri="{FF2B5EF4-FFF2-40B4-BE49-F238E27FC236}">
                <a16:creationId xmlns:a16="http://schemas.microsoft.com/office/drawing/2014/main" id="{D3CB3AD1-7D94-0802-EB11-CBF5D263F0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327B77-AF55-1708-8EA7-7550244063BA}"/>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157314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0091D-B3F9-FC6C-CCBE-4480DE6DAE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3379A3-B714-2EF5-6F9A-0B9579D446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41B287-7A7A-5B97-9294-C8BE783B0B02}"/>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5" name="Footer Placeholder 4">
            <a:extLst>
              <a:ext uri="{FF2B5EF4-FFF2-40B4-BE49-F238E27FC236}">
                <a16:creationId xmlns:a16="http://schemas.microsoft.com/office/drawing/2014/main" id="{D7C73239-CC71-C3D4-3520-72E7D378BF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FCCF2C-4AF2-761B-5F2A-62B22A5A8DD7}"/>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1283470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224D4-1469-9468-479B-A6832E358F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BAF50E-94D8-BD30-44EA-FC6E16D3D0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BC0CD2-9003-3DFD-6D14-B8DA308100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110B18E-8A8F-53FA-EB11-B615FE94E5CF}"/>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6" name="Footer Placeholder 5">
            <a:extLst>
              <a:ext uri="{FF2B5EF4-FFF2-40B4-BE49-F238E27FC236}">
                <a16:creationId xmlns:a16="http://schemas.microsoft.com/office/drawing/2014/main" id="{A24CD70C-C189-0AEE-CF15-BED9C99C89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2B5EE4-68DD-459D-95AB-6D6C88D7E9EF}"/>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1311866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E2779-16E4-2BC9-4A0D-BC795F5DC62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69DD9E1-F277-D9E6-50AD-0D0B9EEFF3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21184B-5862-6DEE-5662-9EF6005DD5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81394EA-C6D4-E5B1-3D9E-48C20E80A6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1F4E58-A292-C085-7206-346D807276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44CC545-85D5-7BEF-6AD8-8B251452A27A}"/>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8" name="Footer Placeholder 7">
            <a:extLst>
              <a:ext uri="{FF2B5EF4-FFF2-40B4-BE49-F238E27FC236}">
                <a16:creationId xmlns:a16="http://schemas.microsoft.com/office/drawing/2014/main" id="{2366C91B-A7E4-978B-382C-1473AC687B3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BE81797-20B2-3B23-7D7D-9E56E4994617}"/>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241322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10DBE-45B8-0597-B705-C7BE7E649F8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A341569-C414-AD38-FD83-C920FAC6EB70}"/>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4" name="Footer Placeholder 3">
            <a:extLst>
              <a:ext uri="{FF2B5EF4-FFF2-40B4-BE49-F238E27FC236}">
                <a16:creationId xmlns:a16="http://schemas.microsoft.com/office/drawing/2014/main" id="{5988EB27-9342-C8A1-AF9D-698C2183B59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7F55E67-A7B0-36AE-6323-1653D0A670A8}"/>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312518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DA9915-9243-FD2E-23D8-D0B34AAE9C00}"/>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3" name="Footer Placeholder 2">
            <a:extLst>
              <a:ext uri="{FF2B5EF4-FFF2-40B4-BE49-F238E27FC236}">
                <a16:creationId xmlns:a16="http://schemas.microsoft.com/office/drawing/2014/main" id="{4C563965-0DFA-1A18-A2D2-8133DA7ACD1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1BEDDBB-C4E9-CF80-9E8B-FC964BD1BD19}"/>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2478410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7F627-7890-25EE-706E-86A08BC0A0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2AB01CE-5F23-AD61-6CCB-AD6D801D6C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298FE3E-77F1-73CC-C17A-7A7E9098D7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B3C1B4-9350-71AE-97FD-ABC371A9F28C}"/>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6" name="Footer Placeholder 5">
            <a:extLst>
              <a:ext uri="{FF2B5EF4-FFF2-40B4-BE49-F238E27FC236}">
                <a16:creationId xmlns:a16="http://schemas.microsoft.com/office/drawing/2014/main" id="{B0497C56-FE69-84B4-31B0-895084DF84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931046-8A19-4ADE-C3BD-FA63479F9654}"/>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1592497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5887E-5F17-B392-1D07-1B99FDAD2C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1DB9FB2-3932-84DC-54BE-9C46C83279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09E91F0-FD7D-683B-7F95-FFEEC457E2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B2B8FE-1F01-E8E1-A96A-A50642AC4D4A}"/>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6" name="Footer Placeholder 5">
            <a:extLst>
              <a:ext uri="{FF2B5EF4-FFF2-40B4-BE49-F238E27FC236}">
                <a16:creationId xmlns:a16="http://schemas.microsoft.com/office/drawing/2014/main" id="{38B1AEA0-81E3-D4E1-522A-BA08C87233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70AF25-8CDE-C318-75E7-E5A037A6DDCC}"/>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1234654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3FBCE-9505-5E6C-D1DF-BBF76CAEDD6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8F1F1C-4B26-30CC-C529-02CD8AD186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AE82B6-0BE5-CFB0-4855-6D4AE097BE5E}"/>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5" name="Footer Placeholder 4">
            <a:extLst>
              <a:ext uri="{FF2B5EF4-FFF2-40B4-BE49-F238E27FC236}">
                <a16:creationId xmlns:a16="http://schemas.microsoft.com/office/drawing/2014/main" id="{122705CF-4CA4-F3AC-6410-3A422C23F8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CE99F2-8527-EC3A-1215-139C801FE5D9}"/>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1736111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AEDCAE-8B99-8D9D-FA58-494A2B30FE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D45D37-5407-F080-0F63-5FFA579CC0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5906D4-7E25-D00A-B0A3-4B22ACD1413A}"/>
              </a:ext>
            </a:extLst>
          </p:cNvPr>
          <p:cNvSpPr>
            <a:spLocks noGrp="1"/>
          </p:cNvSpPr>
          <p:nvPr>
            <p:ph type="dt" sz="half" idx="10"/>
          </p:nvPr>
        </p:nvSpPr>
        <p:spPr/>
        <p:txBody>
          <a:bodyPr/>
          <a:lstStyle/>
          <a:p>
            <a:fld id="{0233B187-3147-4899-B595-BFB46D9E6A77}" type="datetimeFigureOut">
              <a:rPr lang="en-IN" smtClean="0"/>
              <a:t>25-03-2026</a:t>
            </a:fld>
            <a:endParaRPr lang="en-IN"/>
          </a:p>
        </p:txBody>
      </p:sp>
      <p:sp>
        <p:nvSpPr>
          <p:cNvPr id="5" name="Footer Placeholder 4">
            <a:extLst>
              <a:ext uri="{FF2B5EF4-FFF2-40B4-BE49-F238E27FC236}">
                <a16:creationId xmlns:a16="http://schemas.microsoft.com/office/drawing/2014/main" id="{5276A243-64B8-F42B-E9DA-DB6B491D0C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0BAEC3-FE47-F3EB-3CED-AB41C7AA5B7F}"/>
              </a:ext>
            </a:extLst>
          </p:cNvPr>
          <p:cNvSpPr>
            <a:spLocks noGrp="1"/>
          </p:cNvSpPr>
          <p:nvPr>
            <p:ph type="sldNum" sz="quarter" idx="12"/>
          </p:nvPr>
        </p:nvSpPr>
        <p:spPr/>
        <p:txBody>
          <a:bodyPr/>
          <a:lstStyle/>
          <a:p>
            <a:fld id="{FE242B5B-AF68-4672-9BF9-AA9D9225C18C}" type="slidenum">
              <a:rPr lang="en-IN" smtClean="0"/>
              <a:t>‹#›</a:t>
            </a:fld>
            <a:endParaRPr lang="en-IN"/>
          </a:p>
        </p:txBody>
      </p:sp>
    </p:spTree>
    <p:extLst>
      <p:ext uri="{BB962C8B-B14F-4D97-AF65-F5344CB8AC3E}">
        <p14:creationId xmlns:p14="http://schemas.microsoft.com/office/powerpoint/2010/main" val="3396147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01CFBE-5552-88AC-B50E-50B1B29482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CB267F-A43F-E3A2-C906-AF56956EB2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912B6A-B911-8ECC-FD08-0FE90E227B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33B187-3147-4899-B595-BFB46D9E6A77}" type="datetimeFigureOut">
              <a:rPr lang="en-IN" smtClean="0"/>
              <a:t>25-03-2026</a:t>
            </a:fld>
            <a:endParaRPr lang="en-IN"/>
          </a:p>
        </p:txBody>
      </p:sp>
      <p:sp>
        <p:nvSpPr>
          <p:cNvPr id="5" name="Footer Placeholder 4">
            <a:extLst>
              <a:ext uri="{FF2B5EF4-FFF2-40B4-BE49-F238E27FC236}">
                <a16:creationId xmlns:a16="http://schemas.microsoft.com/office/drawing/2014/main" id="{BF2F9A1D-006A-A7B2-EB32-F39A664343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199A911-9765-E500-ACBC-6BD9575D9C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242B5B-AF68-4672-9BF9-AA9D9225C18C}" type="slidenum">
              <a:rPr lang="en-IN" smtClean="0"/>
              <a:t>‹#›</a:t>
            </a:fld>
            <a:endParaRPr lang="en-IN"/>
          </a:p>
        </p:txBody>
      </p:sp>
    </p:spTree>
    <p:extLst>
      <p:ext uri="{BB962C8B-B14F-4D97-AF65-F5344CB8AC3E}">
        <p14:creationId xmlns:p14="http://schemas.microsoft.com/office/powerpoint/2010/main" val="1339215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C64DC-65C8-EBEC-0BD5-CCB7C24CB640}"/>
              </a:ext>
            </a:extLst>
          </p:cNvPr>
          <p:cNvSpPr>
            <a:spLocks noGrp="1"/>
          </p:cNvSpPr>
          <p:nvPr>
            <p:ph type="ctrTitle"/>
          </p:nvPr>
        </p:nvSpPr>
        <p:spPr/>
        <p:txBody>
          <a:bodyPr/>
          <a:lstStyle/>
          <a:p>
            <a:r>
              <a:rPr lang="en-US" b="1" dirty="0">
                <a:latin typeface="+mn-lt"/>
              </a:rPr>
              <a:t>Customer Churn Data Analysis Report</a:t>
            </a:r>
            <a:endParaRPr lang="en-IN" b="1" dirty="0">
              <a:latin typeface="+mn-lt"/>
            </a:endParaRPr>
          </a:p>
        </p:txBody>
      </p:sp>
      <p:sp>
        <p:nvSpPr>
          <p:cNvPr id="3" name="Subtitle 2">
            <a:extLst>
              <a:ext uri="{FF2B5EF4-FFF2-40B4-BE49-F238E27FC236}">
                <a16:creationId xmlns:a16="http://schemas.microsoft.com/office/drawing/2014/main" id="{63E7690F-D800-0686-EC42-DC2215066832}"/>
              </a:ext>
            </a:extLst>
          </p:cNvPr>
          <p:cNvSpPr>
            <a:spLocks noGrp="1"/>
          </p:cNvSpPr>
          <p:nvPr>
            <p:ph type="subTitle" idx="1"/>
          </p:nvPr>
        </p:nvSpPr>
        <p:spPr>
          <a:xfrm>
            <a:off x="1524000" y="4198374"/>
            <a:ext cx="9144000" cy="1059426"/>
          </a:xfrm>
        </p:spPr>
        <p:txBody>
          <a:bodyPr/>
          <a:lstStyle/>
          <a:p>
            <a:r>
              <a:rPr lang="en-US" dirty="0"/>
              <a:t>Data Gathering, Exploratory Data Analysis, and Data Preparation</a:t>
            </a:r>
            <a:endParaRPr lang="en-IN" dirty="0"/>
          </a:p>
        </p:txBody>
      </p:sp>
    </p:spTree>
    <p:extLst>
      <p:ext uri="{BB962C8B-B14F-4D97-AF65-F5344CB8AC3E}">
        <p14:creationId xmlns:p14="http://schemas.microsoft.com/office/powerpoint/2010/main" val="831808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87423-BE3B-0651-2098-A837055915C7}"/>
              </a:ext>
            </a:extLst>
          </p:cNvPr>
          <p:cNvSpPr>
            <a:spLocks noGrp="1"/>
          </p:cNvSpPr>
          <p:nvPr>
            <p:ph type="title"/>
          </p:nvPr>
        </p:nvSpPr>
        <p:spPr>
          <a:xfrm>
            <a:off x="4060722" y="365125"/>
            <a:ext cx="7293077" cy="1325563"/>
          </a:xfrm>
        </p:spPr>
        <p:txBody>
          <a:bodyPr>
            <a:normAutofit/>
          </a:bodyPr>
          <a:lstStyle/>
          <a:p>
            <a:r>
              <a:rPr lang="en-IN" b="1" dirty="0">
                <a:latin typeface="+mn-lt"/>
              </a:rPr>
              <a:t>Introduction</a:t>
            </a:r>
          </a:p>
        </p:txBody>
      </p:sp>
      <p:sp>
        <p:nvSpPr>
          <p:cNvPr id="3" name="Content Placeholder 2">
            <a:extLst>
              <a:ext uri="{FF2B5EF4-FFF2-40B4-BE49-F238E27FC236}">
                <a16:creationId xmlns:a16="http://schemas.microsoft.com/office/drawing/2014/main" id="{5594D3C8-5A36-865A-0F7C-3E036FFF67B6}"/>
              </a:ext>
            </a:extLst>
          </p:cNvPr>
          <p:cNvSpPr>
            <a:spLocks noGrp="1"/>
          </p:cNvSpPr>
          <p:nvPr>
            <p:ph idx="1"/>
          </p:nvPr>
        </p:nvSpPr>
        <p:spPr/>
        <p:txBody>
          <a:bodyPr/>
          <a:lstStyle/>
          <a:p>
            <a:r>
              <a:rPr lang="en-US" dirty="0"/>
              <a:t>Customer churn is a critical challenge for financial institutions because acquiring new customers is significantly more expensive than retaining existing ones. Predicting churn enables organizations to proactively identify customers who may discontinue services and implement targeted retention strategies.</a:t>
            </a:r>
          </a:p>
          <a:p>
            <a:r>
              <a:rPr lang="en-US" dirty="0"/>
              <a:t>In this project, data analysis techniques were used to explore customer data and prepare it for building a predictive churn model. The objective of this task was to gather relevant datasets, perform exploratory data analysis (EDA), and clean and preprocess the data to ensure it is suitable for machine learning.</a:t>
            </a:r>
          </a:p>
          <a:p>
            <a:pPr marL="0" indent="0">
              <a:buNone/>
            </a:pPr>
            <a:endParaRPr lang="en-IN" dirty="0"/>
          </a:p>
        </p:txBody>
      </p:sp>
    </p:spTree>
    <p:extLst>
      <p:ext uri="{BB962C8B-B14F-4D97-AF65-F5344CB8AC3E}">
        <p14:creationId xmlns:p14="http://schemas.microsoft.com/office/powerpoint/2010/main" val="367901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26ED6-532F-8410-E09B-1EC7BBC30482}"/>
              </a:ext>
            </a:extLst>
          </p:cNvPr>
          <p:cNvSpPr>
            <a:spLocks noGrp="1"/>
          </p:cNvSpPr>
          <p:nvPr>
            <p:ph type="title"/>
          </p:nvPr>
        </p:nvSpPr>
        <p:spPr>
          <a:xfrm>
            <a:off x="2271252" y="365125"/>
            <a:ext cx="9082548" cy="2014282"/>
          </a:xfrm>
        </p:spPr>
        <p:txBody>
          <a:bodyPr/>
          <a:lstStyle/>
          <a:p>
            <a:r>
              <a:rPr lang="en-US" b="1" dirty="0">
                <a:latin typeface="+mn-lt"/>
              </a:rPr>
              <a:t>Data Gathering and Data Sources</a:t>
            </a:r>
            <a:endParaRPr lang="en-IN" b="1" dirty="0">
              <a:latin typeface="+mn-lt"/>
            </a:endParaRPr>
          </a:p>
        </p:txBody>
      </p:sp>
      <p:sp>
        <p:nvSpPr>
          <p:cNvPr id="3" name="Content Placeholder 2">
            <a:extLst>
              <a:ext uri="{FF2B5EF4-FFF2-40B4-BE49-F238E27FC236}">
                <a16:creationId xmlns:a16="http://schemas.microsoft.com/office/drawing/2014/main" id="{B007CCB9-10A7-A00D-1560-E7B1724BDB13}"/>
              </a:ext>
            </a:extLst>
          </p:cNvPr>
          <p:cNvSpPr>
            <a:spLocks noGrp="1"/>
          </p:cNvSpPr>
          <p:nvPr>
            <p:ph idx="1"/>
          </p:nvPr>
        </p:nvSpPr>
        <p:spPr>
          <a:xfrm>
            <a:off x="1307690" y="2379407"/>
            <a:ext cx="10046110" cy="3797556"/>
          </a:xfrm>
        </p:spPr>
        <p:txBody>
          <a:bodyPr/>
          <a:lstStyle/>
          <a:p>
            <a:pPr marL="0" indent="0">
              <a:buNone/>
            </a:pPr>
            <a:r>
              <a:rPr lang="en-US" dirty="0"/>
              <a:t>To understand the factors influencing customer churn, multiple datasets were collected from different sources within the banking system. These datasets provide insights into customer demographics, financial behavior, digital engagement, and service interactions.</a:t>
            </a:r>
            <a:endParaRPr lang="en-IN" dirty="0"/>
          </a:p>
        </p:txBody>
      </p:sp>
    </p:spTree>
    <p:extLst>
      <p:ext uri="{BB962C8B-B14F-4D97-AF65-F5344CB8AC3E}">
        <p14:creationId xmlns:p14="http://schemas.microsoft.com/office/powerpoint/2010/main" val="4012131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547396-A0BD-9AA8-3B75-49F6649A0997}"/>
              </a:ext>
            </a:extLst>
          </p:cNvPr>
          <p:cNvSpPr>
            <a:spLocks noGrp="1"/>
          </p:cNvSpPr>
          <p:nvPr>
            <p:ph idx="1"/>
          </p:nvPr>
        </p:nvSpPr>
        <p:spPr>
          <a:xfrm>
            <a:off x="275303" y="570271"/>
            <a:ext cx="11680723" cy="6184489"/>
          </a:xfrm>
        </p:spPr>
        <p:txBody>
          <a:bodyPr>
            <a:noAutofit/>
          </a:bodyPr>
          <a:lstStyle/>
          <a:p>
            <a:r>
              <a:rPr lang="en-US" b="1" dirty="0"/>
              <a:t>Customer Demographics</a:t>
            </a:r>
          </a:p>
          <a:p>
            <a:pPr marL="0" indent="0">
              <a:buNone/>
            </a:pPr>
            <a:r>
              <a:rPr lang="en-US" dirty="0"/>
              <a:t>This dataset contains personal information about customers, including age, gender, marital status, and income level. Demographic attributes often influence customer financial behavior and engagement patterns.</a:t>
            </a:r>
          </a:p>
          <a:p>
            <a:r>
              <a:rPr lang="en-US" b="1" dirty="0"/>
              <a:t>Transaction History</a:t>
            </a:r>
          </a:p>
          <a:p>
            <a:pPr marL="0" indent="0">
              <a:buNone/>
            </a:pPr>
            <a:r>
              <a:rPr lang="en-US" dirty="0"/>
              <a:t>This dataset records customer spending behavior and transaction activity. Transaction data helps identify patterns in financial usage that may indicate disengagement or reduced banking activity.</a:t>
            </a:r>
          </a:p>
          <a:p>
            <a:r>
              <a:rPr lang="en-US" b="1" dirty="0"/>
              <a:t>Customer Service Interactions</a:t>
            </a:r>
          </a:p>
          <a:p>
            <a:pPr marL="0" indent="0">
              <a:buNone/>
            </a:pPr>
            <a:r>
              <a:rPr lang="en-US" dirty="0"/>
              <a:t>This dataset includes records of customer service requests and interactions. Frequent complaints or support requests may indicate dissatisfaction, which can increase the likelihood of churn.</a:t>
            </a:r>
          </a:p>
          <a:p>
            <a:pPr marL="0" indent="0">
              <a:buNone/>
            </a:pPr>
            <a:endParaRPr lang="en-IN" dirty="0"/>
          </a:p>
        </p:txBody>
      </p:sp>
    </p:spTree>
    <p:extLst>
      <p:ext uri="{BB962C8B-B14F-4D97-AF65-F5344CB8AC3E}">
        <p14:creationId xmlns:p14="http://schemas.microsoft.com/office/powerpoint/2010/main" val="1515364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FD2025-02A7-A062-C6DC-7CAFF0626C7A}"/>
              </a:ext>
            </a:extLst>
          </p:cNvPr>
          <p:cNvSpPr>
            <a:spLocks noGrp="1"/>
          </p:cNvSpPr>
          <p:nvPr>
            <p:ph idx="1"/>
          </p:nvPr>
        </p:nvSpPr>
        <p:spPr>
          <a:xfrm>
            <a:off x="838200" y="943897"/>
            <a:ext cx="10515600" cy="5233066"/>
          </a:xfrm>
        </p:spPr>
        <p:txBody>
          <a:bodyPr/>
          <a:lstStyle/>
          <a:p>
            <a:r>
              <a:rPr lang="en-US" b="1" dirty="0"/>
              <a:t>Online Activity</a:t>
            </a:r>
          </a:p>
          <a:p>
            <a:pPr marL="0" indent="0">
              <a:buNone/>
            </a:pPr>
            <a:r>
              <a:rPr lang="en-US" dirty="0"/>
              <a:t>This dataset captures digital engagement metrics such as login frequency and usage of online banking platforms. Customers who interact less frequently with digital services may be more likely to discontinue their relationship with the bank.</a:t>
            </a:r>
          </a:p>
          <a:p>
            <a:r>
              <a:rPr lang="en-US" b="1" dirty="0"/>
              <a:t>Churn Status</a:t>
            </a:r>
          </a:p>
          <a:p>
            <a:pPr marL="0" indent="0">
              <a:buNone/>
            </a:pPr>
            <a:r>
              <a:rPr lang="en-US" dirty="0"/>
              <a:t>This dataset contains the churn label, indicating whether a customer has left the bank's services. It serves as the target variable for predictive modeling. All datasets were integrated using the </a:t>
            </a:r>
            <a:r>
              <a:rPr lang="en-US" b="1" dirty="0" err="1"/>
              <a:t>CustomerID</a:t>
            </a:r>
            <a:r>
              <a:rPr lang="en-US" dirty="0"/>
              <a:t> field to create a unified dataset containing one record per customer.</a:t>
            </a:r>
          </a:p>
          <a:p>
            <a:pPr marL="0" indent="0">
              <a:buNone/>
            </a:pPr>
            <a:endParaRPr lang="en-IN" dirty="0"/>
          </a:p>
        </p:txBody>
      </p:sp>
    </p:spTree>
    <p:extLst>
      <p:ext uri="{BB962C8B-B14F-4D97-AF65-F5344CB8AC3E}">
        <p14:creationId xmlns:p14="http://schemas.microsoft.com/office/powerpoint/2010/main" val="1836220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79041AA8-56D0-3F27-7CF0-12FB7870BA1B}"/>
              </a:ext>
            </a:extLst>
          </p:cNvPr>
          <p:cNvPicPr>
            <a:picLocks noGrp="1" noChangeAspect="1"/>
          </p:cNvPicPr>
          <p:nvPr>
            <p:ph idx="1"/>
          </p:nvPr>
        </p:nvPicPr>
        <p:blipFill>
          <a:blip r:embed="rId2"/>
          <a:stretch>
            <a:fillRect/>
          </a:stretch>
        </p:blipFill>
        <p:spPr>
          <a:xfrm>
            <a:off x="0" y="953729"/>
            <a:ext cx="12044516" cy="4375356"/>
          </a:xfrm>
          <a:prstGeom prst="rect">
            <a:avLst/>
          </a:prstGeom>
        </p:spPr>
      </p:pic>
    </p:spTree>
    <p:extLst>
      <p:ext uri="{BB962C8B-B14F-4D97-AF65-F5344CB8AC3E}">
        <p14:creationId xmlns:p14="http://schemas.microsoft.com/office/powerpoint/2010/main" val="3144277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CB2DB-BDF8-198E-C0D7-9426D4F45958}"/>
              </a:ext>
            </a:extLst>
          </p:cNvPr>
          <p:cNvSpPr>
            <a:spLocks noGrp="1"/>
          </p:cNvSpPr>
          <p:nvPr>
            <p:ph type="title"/>
          </p:nvPr>
        </p:nvSpPr>
        <p:spPr>
          <a:xfrm>
            <a:off x="3824748" y="365125"/>
            <a:ext cx="7529052" cy="1325563"/>
          </a:xfrm>
        </p:spPr>
        <p:txBody>
          <a:bodyPr>
            <a:normAutofit/>
          </a:bodyPr>
          <a:lstStyle/>
          <a:p>
            <a:r>
              <a:rPr lang="en-IN" sz="4800" b="1" dirty="0">
                <a:latin typeface="+mn-lt"/>
              </a:rPr>
              <a:t>Data Integration</a:t>
            </a:r>
          </a:p>
        </p:txBody>
      </p:sp>
      <p:sp>
        <p:nvSpPr>
          <p:cNvPr id="3" name="Content Placeholder 2">
            <a:extLst>
              <a:ext uri="{FF2B5EF4-FFF2-40B4-BE49-F238E27FC236}">
                <a16:creationId xmlns:a16="http://schemas.microsoft.com/office/drawing/2014/main" id="{FB38253C-98EE-3B37-BC97-2C144C6352B9}"/>
              </a:ext>
            </a:extLst>
          </p:cNvPr>
          <p:cNvSpPr>
            <a:spLocks noGrp="1"/>
          </p:cNvSpPr>
          <p:nvPr>
            <p:ph idx="1"/>
          </p:nvPr>
        </p:nvSpPr>
        <p:spPr/>
        <p:txBody>
          <a:bodyPr>
            <a:normAutofit lnSpcReduction="10000"/>
          </a:bodyPr>
          <a:lstStyle/>
          <a:p>
            <a:r>
              <a:rPr lang="en-US" dirty="0"/>
              <a:t>Since customer data was stored across multiple tables, the datasets were merged using the </a:t>
            </a:r>
            <a:r>
              <a:rPr lang="en-US" b="1" dirty="0" err="1"/>
              <a:t>CustomerID</a:t>
            </a:r>
            <a:r>
              <a:rPr lang="en-US" dirty="0"/>
              <a:t> key. This ensured that all relevant customer information was consolidated into a single dataset.</a:t>
            </a:r>
          </a:p>
          <a:p>
            <a:r>
              <a:rPr lang="en-US" dirty="0"/>
              <a:t>Transaction records were aggregated to compute total spending per customer, enabling a clear understanding of each customer's financial activity.</a:t>
            </a:r>
          </a:p>
          <a:p>
            <a:r>
              <a:rPr lang="en-US" dirty="0"/>
              <a:t>After merging the datasets, a unified dataset was created containing demographic attributes, transaction behavior, digital engagement metrics, and churn status.</a:t>
            </a:r>
          </a:p>
          <a:p>
            <a:r>
              <a:rPr lang="en-US" dirty="0"/>
              <a:t>This integrated dataset forms the foundation for exploratory analysis and predictive modeling.</a:t>
            </a:r>
          </a:p>
          <a:p>
            <a:pPr marL="0" indent="0">
              <a:buNone/>
            </a:pPr>
            <a:endParaRPr lang="en-IN" dirty="0"/>
          </a:p>
        </p:txBody>
      </p:sp>
    </p:spTree>
    <p:extLst>
      <p:ext uri="{BB962C8B-B14F-4D97-AF65-F5344CB8AC3E}">
        <p14:creationId xmlns:p14="http://schemas.microsoft.com/office/powerpoint/2010/main" val="493744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EAB6E2-5309-0AD2-B2D7-47F8A3B725F2}"/>
              </a:ext>
            </a:extLst>
          </p:cNvPr>
          <p:cNvPicPr>
            <a:picLocks noGrp="1" noChangeAspect="1"/>
          </p:cNvPicPr>
          <p:nvPr>
            <p:ph idx="1"/>
          </p:nvPr>
        </p:nvPicPr>
        <p:blipFill>
          <a:blip r:embed="rId2"/>
          <a:stretch>
            <a:fillRect/>
          </a:stretch>
        </p:blipFill>
        <p:spPr>
          <a:xfrm>
            <a:off x="250722" y="1435510"/>
            <a:ext cx="11690555" cy="3775588"/>
          </a:xfrm>
          <a:prstGeom prst="rect">
            <a:avLst/>
          </a:prstGeom>
        </p:spPr>
      </p:pic>
    </p:spTree>
    <p:extLst>
      <p:ext uri="{BB962C8B-B14F-4D97-AF65-F5344CB8AC3E}">
        <p14:creationId xmlns:p14="http://schemas.microsoft.com/office/powerpoint/2010/main" val="4000528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9F2B2-0FFE-0CD6-5270-602D1FFC357E}"/>
              </a:ext>
            </a:extLst>
          </p:cNvPr>
          <p:cNvSpPr>
            <a:spLocks noGrp="1"/>
          </p:cNvSpPr>
          <p:nvPr>
            <p:ph type="title"/>
          </p:nvPr>
        </p:nvSpPr>
        <p:spPr>
          <a:xfrm>
            <a:off x="2035276" y="365125"/>
            <a:ext cx="9318523" cy="1325563"/>
          </a:xfrm>
        </p:spPr>
        <p:txBody>
          <a:bodyPr>
            <a:normAutofit/>
          </a:bodyPr>
          <a:lstStyle/>
          <a:p>
            <a:r>
              <a:rPr lang="en-IN" sz="4800" b="1" dirty="0">
                <a:latin typeface="+mn-lt"/>
              </a:rPr>
              <a:t>Exploratory Data Analysis (EDA)</a:t>
            </a:r>
          </a:p>
        </p:txBody>
      </p:sp>
      <p:sp>
        <p:nvSpPr>
          <p:cNvPr id="3" name="Content Placeholder 2">
            <a:extLst>
              <a:ext uri="{FF2B5EF4-FFF2-40B4-BE49-F238E27FC236}">
                <a16:creationId xmlns:a16="http://schemas.microsoft.com/office/drawing/2014/main" id="{F0159D91-23B5-C625-42CB-BFD711493CA8}"/>
              </a:ext>
            </a:extLst>
          </p:cNvPr>
          <p:cNvSpPr>
            <a:spLocks noGrp="1"/>
          </p:cNvSpPr>
          <p:nvPr>
            <p:ph idx="1"/>
          </p:nvPr>
        </p:nvSpPr>
        <p:spPr>
          <a:xfrm>
            <a:off x="838200" y="2477729"/>
            <a:ext cx="10515600" cy="3699234"/>
          </a:xfrm>
        </p:spPr>
        <p:txBody>
          <a:bodyPr/>
          <a:lstStyle/>
          <a:p>
            <a:r>
              <a:rPr lang="en-US" dirty="0"/>
              <a:t>Exploratory Data Analysis was performed to understand the structure of the dataset, identify trends, detect anomalies, and discover potential relationships between variables and customer churn.</a:t>
            </a:r>
          </a:p>
          <a:p>
            <a:r>
              <a:rPr lang="en-US" dirty="0"/>
              <a:t>EDA involved both statistical analysis and data visualization.</a:t>
            </a:r>
          </a:p>
        </p:txBody>
      </p:sp>
    </p:spTree>
    <p:extLst>
      <p:ext uri="{BB962C8B-B14F-4D97-AF65-F5344CB8AC3E}">
        <p14:creationId xmlns:p14="http://schemas.microsoft.com/office/powerpoint/2010/main" val="4197981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1FF56C-4A0B-D0BB-0B86-5C5D6C460E05}"/>
              </a:ext>
            </a:extLst>
          </p:cNvPr>
          <p:cNvSpPr>
            <a:spLocks noGrp="1"/>
          </p:cNvSpPr>
          <p:nvPr>
            <p:ph idx="1"/>
          </p:nvPr>
        </p:nvSpPr>
        <p:spPr>
          <a:xfrm>
            <a:off x="167147" y="157316"/>
            <a:ext cx="11838039" cy="6558116"/>
          </a:xfrm>
        </p:spPr>
        <p:txBody>
          <a:bodyPr>
            <a:normAutofit fontScale="92500" lnSpcReduction="20000"/>
          </a:bodyPr>
          <a:lstStyle/>
          <a:p>
            <a:r>
              <a:rPr lang="en-US" sz="3000" b="1" dirty="0"/>
              <a:t>Age Distribution</a:t>
            </a:r>
          </a:p>
          <a:p>
            <a:pPr marL="0" indent="0">
              <a:buNone/>
            </a:pPr>
            <a:r>
              <a:rPr lang="en-US" sz="3000" dirty="0"/>
              <a:t>A histogram was used to analyze the distribution of customer ages. The analysis shows that the customer base consists mainly of young to middle-aged individuals. Understanding the age distribution helps determine whether churn behavior varies across different age groups.</a:t>
            </a:r>
            <a:br>
              <a:rPr lang="en-US" sz="3000" dirty="0"/>
            </a:br>
            <a:endParaRPr lang="en-US" sz="3000" dirty="0"/>
          </a:p>
          <a:p>
            <a:r>
              <a:rPr lang="en-US" sz="3000" b="1" dirty="0"/>
              <a:t>Transaction Spending Analysis</a:t>
            </a:r>
          </a:p>
          <a:p>
            <a:pPr marL="0" indent="0">
              <a:buNone/>
            </a:pPr>
            <a:r>
              <a:rPr lang="en-US" sz="3000" dirty="0"/>
              <a:t>A boxplot was used to examine the distribution of </a:t>
            </a:r>
            <a:r>
              <a:rPr lang="en-US" sz="3000" b="1" dirty="0"/>
              <a:t>Amount Spent</a:t>
            </a:r>
            <a:r>
              <a:rPr lang="en-US" sz="3000" dirty="0"/>
              <a:t> by customers. The visualization showed that most transaction values fall within a reasonable range. No significant outliers were observed outside the whiskers of the boxplot, indicating that transaction spending values are relatively stable and do not require outlier removal.</a:t>
            </a:r>
            <a:br>
              <a:rPr lang="en-US" sz="3000" dirty="0"/>
            </a:br>
            <a:endParaRPr lang="en-US" sz="3000" dirty="0"/>
          </a:p>
          <a:p>
            <a:r>
              <a:rPr lang="en-US" sz="3000" b="1" dirty="0"/>
              <a:t>Login Frequency and Customer Churn</a:t>
            </a:r>
          </a:p>
          <a:p>
            <a:pPr marL="0" indent="0">
              <a:buNone/>
            </a:pPr>
            <a:r>
              <a:rPr lang="en-US" sz="3000" dirty="0"/>
              <a:t>A boxplot was used to compare login frequency between customers who churned and those who remained active. The analysis indicates that customers with lower login frequency tend to have a higher probability of churn. This suggests that reduced digital engagement may be an early indicator of customer disengagement.</a:t>
            </a:r>
          </a:p>
          <a:p>
            <a:pPr marL="0" indent="0">
              <a:buNone/>
            </a:pPr>
            <a:endParaRPr lang="en-IN" dirty="0"/>
          </a:p>
        </p:txBody>
      </p:sp>
    </p:spTree>
    <p:extLst>
      <p:ext uri="{BB962C8B-B14F-4D97-AF65-F5344CB8AC3E}">
        <p14:creationId xmlns:p14="http://schemas.microsoft.com/office/powerpoint/2010/main" val="3674031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86755B5-24DD-FA83-9254-2E5C481285D3}"/>
              </a:ext>
            </a:extLst>
          </p:cNvPr>
          <p:cNvPicPr>
            <a:picLocks noGrp="1" noChangeAspect="1"/>
          </p:cNvPicPr>
          <p:nvPr>
            <p:ph idx="1"/>
          </p:nvPr>
        </p:nvPicPr>
        <p:blipFill>
          <a:blip r:embed="rId2"/>
          <a:stretch>
            <a:fillRect/>
          </a:stretch>
        </p:blipFill>
        <p:spPr>
          <a:xfrm>
            <a:off x="1691149" y="147484"/>
            <a:ext cx="8550279" cy="6710516"/>
          </a:xfrm>
          <a:prstGeom prst="rect">
            <a:avLst/>
          </a:prstGeom>
        </p:spPr>
      </p:pic>
    </p:spTree>
    <p:extLst>
      <p:ext uri="{BB962C8B-B14F-4D97-AF65-F5344CB8AC3E}">
        <p14:creationId xmlns:p14="http://schemas.microsoft.com/office/powerpoint/2010/main" val="3852160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7F505C3-81A5-3CB0-D197-2AE0E9F79A1C}"/>
              </a:ext>
            </a:extLst>
          </p:cNvPr>
          <p:cNvPicPr>
            <a:picLocks noGrp="1" noChangeAspect="1"/>
          </p:cNvPicPr>
          <p:nvPr>
            <p:ph idx="1"/>
          </p:nvPr>
        </p:nvPicPr>
        <p:blipFill>
          <a:blip r:embed="rId2"/>
          <a:stretch>
            <a:fillRect/>
          </a:stretch>
        </p:blipFill>
        <p:spPr>
          <a:xfrm>
            <a:off x="1622324" y="66368"/>
            <a:ext cx="8750708" cy="6658897"/>
          </a:xfrm>
          <a:prstGeom prst="rect">
            <a:avLst/>
          </a:prstGeom>
        </p:spPr>
      </p:pic>
    </p:spTree>
    <p:extLst>
      <p:ext uri="{BB962C8B-B14F-4D97-AF65-F5344CB8AC3E}">
        <p14:creationId xmlns:p14="http://schemas.microsoft.com/office/powerpoint/2010/main" val="2261874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9CCDE2D-E599-8EAF-AD96-A5E73DD6AF93}"/>
              </a:ext>
            </a:extLst>
          </p:cNvPr>
          <p:cNvPicPr>
            <a:picLocks noGrp="1" noChangeAspect="1"/>
          </p:cNvPicPr>
          <p:nvPr>
            <p:ph idx="1"/>
          </p:nvPr>
        </p:nvPicPr>
        <p:blipFill>
          <a:blip r:embed="rId2"/>
          <a:stretch>
            <a:fillRect/>
          </a:stretch>
        </p:blipFill>
        <p:spPr>
          <a:xfrm>
            <a:off x="1838631" y="0"/>
            <a:ext cx="8573730" cy="6567948"/>
          </a:xfrm>
          <a:prstGeom prst="rect">
            <a:avLst/>
          </a:prstGeom>
        </p:spPr>
      </p:pic>
    </p:spTree>
    <p:extLst>
      <p:ext uri="{BB962C8B-B14F-4D97-AF65-F5344CB8AC3E}">
        <p14:creationId xmlns:p14="http://schemas.microsoft.com/office/powerpoint/2010/main" val="3135175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4C801A-80FE-94BF-7B37-153B354E53C5}"/>
              </a:ext>
            </a:extLst>
          </p:cNvPr>
          <p:cNvSpPr>
            <a:spLocks noGrp="1"/>
          </p:cNvSpPr>
          <p:nvPr>
            <p:ph idx="1"/>
          </p:nvPr>
        </p:nvSpPr>
        <p:spPr>
          <a:xfrm>
            <a:off x="167147" y="88490"/>
            <a:ext cx="11828207" cy="6646607"/>
          </a:xfrm>
        </p:spPr>
        <p:txBody>
          <a:bodyPr>
            <a:normAutofit fontScale="92500" lnSpcReduction="20000"/>
          </a:bodyPr>
          <a:lstStyle/>
          <a:p>
            <a:r>
              <a:rPr lang="en-US" sz="3000" b="1" dirty="0"/>
              <a:t>Gender Distribution</a:t>
            </a:r>
          </a:p>
          <a:p>
            <a:pPr marL="0" indent="0">
              <a:buNone/>
            </a:pPr>
            <a:r>
              <a:rPr lang="en-US" sz="3000" dirty="0"/>
              <a:t>A count plot was used to analyze the distribution of customers by gender. The visualization helps determine whether the dataset is balanced between male and female customers. Understanding gender distribution is important because demographic factors may influence financial behavior and engagement patterns.</a:t>
            </a:r>
          </a:p>
          <a:p>
            <a:pPr marL="0" indent="0">
              <a:buNone/>
            </a:pPr>
            <a:endParaRPr lang="en-US" sz="3000" b="1" dirty="0"/>
          </a:p>
          <a:p>
            <a:r>
              <a:rPr lang="en-US" sz="3000" b="1" dirty="0"/>
              <a:t>Income Level Distribution</a:t>
            </a:r>
          </a:p>
          <a:p>
            <a:pPr marL="0" indent="0">
              <a:buNone/>
            </a:pPr>
            <a:r>
              <a:rPr lang="en-US" sz="3000" dirty="0"/>
              <a:t>A count plot was used to examine the distribution of customers across different income levels. Income segmentation helps identify whether customers with lower income levels exhibit higher churn tendencies due to pricing sensitivity or financial constraints.</a:t>
            </a:r>
            <a:br>
              <a:rPr lang="en-US" sz="3000" dirty="0"/>
            </a:br>
            <a:endParaRPr lang="en-US" sz="3000" dirty="0"/>
          </a:p>
          <a:p>
            <a:r>
              <a:rPr lang="en-US" sz="3000" b="1" dirty="0"/>
              <a:t>Correlation Analysis</a:t>
            </a:r>
          </a:p>
          <a:p>
            <a:pPr marL="0" indent="0">
              <a:buNone/>
            </a:pPr>
            <a:r>
              <a:rPr lang="en-US" sz="3000" dirty="0"/>
              <a:t>A correlation heatmap was generated to examine relationships between numerical variables. This analysis helps identify variables that may be strongly associated with customer churn, such as login frequency, transaction spending, or service usage. Understanding these relationships provides valuable insights for selecting features when building predictive models.</a:t>
            </a:r>
          </a:p>
          <a:p>
            <a:pPr marL="0" indent="0">
              <a:buNone/>
            </a:pPr>
            <a:endParaRPr lang="en-IN" dirty="0"/>
          </a:p>
        </p:txBody>
      </p:sp>
    </p:spTree>
    <p:extLst>
      <p:ext uri="{BB962C8B-B14F-4D97-AF65-F5344CB8AC3E}">
        <p14:creationId xmlns:p14="http://schemas.microsoft.com/office/powerpoint/2010/main" val="1850010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C5C110D-124D-2AF4-18C1-16CC58DDF961}"/>
              </a:ext>
            </a:extLst>
          </p:cNvPr>
          <p:cNvPicPr>
            <a:picLocks noGrp="1" noChangeAspect="1"/>
          </p:cNvPicPr>
          <p:nvPr>
            <p:ph idx="1"/>
          </p:nvPr>
        </p:nvPicPr>
        <p:blipFill>
          <a:blip r:embed="rId2"/>
          <a:stretch>
            <a:fillRect/>
          </a:stretch>
        </p:blipFill>
        <p:spPr>
          <a:xfrm>
            <a:off x="2005781" y="0"/>
            <a:ext cx="8150942" cy="6858000"/>
          </a:xfrm>
          <a:prstGeom prst="rect">
            <a:avLst/>
          </a:prstGeom>
        </p:spPr>
      </p:pic>
    </p:spTree>
    <p:extLst>
      <p:ext uri="{BB962C8B-B14F-4D97-AF65-F5344CB8AC3E}">
        <p14:creationId xmlns:p14="http://schemas.microsoft.com/office/powerpoint/2010/main" val="4193337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BA9E433-6FD3-38C0-36D9-508452859BA8}"/>
              </a:ext>
            </a:extLst>
          </p:cNvPr>
          <p:cNvPicPr>
            <a:picLocks noGrp="1" noChangeAspect="1"/>
          </p:cNvPicPr>
          <p:nvPr>
            <p:ph idx="1"/>
          </p:nvPr>
        </p:nvPicPr>
        <p:blipFill>
          <a:blip r:embed="rId2"/>
          <a:stretch>
            <a:fillRect/>
          </a:stretch>
        </p:blipFill>
        <p:spPr>
          <a:xfrm>
            <a:off x="1907458" y="0"/>
            <a:ext cx="8219768" cy="6858000"/>
          </a:xfrm>
          <a:prstGeom prst="rect">
            <a:avLst/>
          </a:prstGeom>
        </p:spPr>
      </p:pic>
    </p:spTree>
    <p:extLst>
      <p:ext uri="{BB962C8B-B14F-4D97-AF65-F5344CB8AC3E}">
        <p14:creationId xmlns:p14="http://schemas.microsoft.com/office/powerpoint/2010/main" val="277064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CE7A455-3E8D-7EBD-C62A-70E59BECE0B5}"/>
              </a:ext>
            </a:extLst>
          </p:cNvPr>
          <p:cNvPicPr>
            <a:picLocks noGrp="1" noChangeAspect="1"/>
          </p:cNvPicPr>
          <p:nvPr>
            <p:ph idx="1"/>
          </p:nvPr>
        </p:nvPicPr>
        <p:blipFill>
          <a:blip r:embed="rId2"/>
          <a:stretch>
            <a:fillRect/>
          </a:stretch>
        </p:blipFill>
        <p:spPr>
          <a:xfrm>
            <a:off x="1986115" y="0"/>
            <a:ext cx="7639665" cy="6858000"/>
          </a:xfrm>
          <a:prstGeom prst="rect">
            <a:avLst/>
          </a:prstGeom>
        </p:spPr>
      </p:pic>
    </p:spTree>
    <p:extLst>
      <p:ext uri="{BB962C8B-B14F-4D97-AF65-F5344CB8AC3E}">
        <p14:creationId xmlns:p14="http://schemas.microsoft.com/office/powerpoint/2010/main" val="787060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EFD64-67F2-64CF-2CCC-EC86F78E93C9}"/>
              </a:ext>
            </a:extLst>
          </p:cNvPr>
          <p:cNvSpPr>
            <a:spLocks noGrp="1"/>
          </p:cNvSpPr>
          <p:nvPr>
            <p:ph type="title"/>
          </p:nvPr>
        </p:nvSpPr>
        <p:spPr>
          <a:xfrm>
            <a:off x="2123768" y="365125"/>
            <a:ext cx="9230032" cy="1325563"/>
          </a:xfrm>
        </p:spPr>
        <p:txBody>
          <a:bodyPr>
            <a:normAutofit/>
          </a:bodyPr>
          <a:lstStyle/>
          <a:p>
            <a:r>
              <a:rPr lang="en-IN" sz="4800" b="1" dirty="0">
                <a:latin typeface="+mn-lt"/>
              </a:rPr>
              <a:t>Data Cleaning and Preprocessing</a:t>
            </a:r>
          </a:p>
        </p:txBody>
      </p:sp>
      <p:sp>
        <p:nvSpPr>
          <p:cNvPr id="3" name="Content Placeholder 2">
            <a:extLst>
              <a:ext uri="{FF2B5EF4-FFF2-40B4-BE49-F238E27FC236}">
                <a16:creationId xmlns:a16="http://schemas.microsoft.com/office/drawing/2014/main" id="{9180CC1B-5C71-0C25-C96A-8F7CB99BE001}"/>
              </a:ext>
            </a:extLst>
          </p:cNvPr>
          <p:cNvSpPr>
            <a:spLocks noGrp="1"/>
          </p:cNvSpPr>
          <p:nvPr>
            <p:ph idx="1"/>
          </p:nvPr>
        </p:nvSpPr>
        <p:spPr>
          <a:xfrm>
            <a:off x="838200" y="1825624"/>
            <a:ext cx="10515600" cy="4408027"/>
          </a:xfrm>
        </p:spPr>
        <p:txBody>
          <a:bodyPr>
            <a:noAutofit/>
          </a:bodyPr>
          <a:lstStyle/>
          <a:p>
            <a:pPr marL="0" indent="0">
              <a:buNone/>
            </a:pPr>
            <a:r>
              <a:rPr lang="en-US" dirty="0"/>
              <a:t>Before building machine learning models, the dataset was cleaned and preprocessed to ensure data quality and consistency.</a:t>
            </a:r>
            <a:br>
              <a:rPr lang="en-US" dirty="0"/>
            </a:br>
            <a:endParaRPr lang="en-US" dirty="0"/>
          </a:p>
          <a:p>
            <a:pPr marL="0" indent="0">
              <a:buNone/>
            </a:pPr>
            <a:r>
              <a:rPr lang="en-US" b="1" dirty="0"/>
              <a:t>Handling Missing Values</a:t>
            </a:r>
          </a:p>
          <a:p>
            <a:pPr marL="0" indent="0">
              <a:buNone/>
            </a:pPr>
            <a:r>
              <a:rPr lang="en-US" dirty="0"/>
              <a:t>The dataset was examined for missing values using data profiling techniques. The analysis showed that there were </a:t>
            </a:r>
            <a:r>
              <a:rPr lang="en-US" b="1" dirty="0"/>
              <a:t>no significant missing values</a:t>
            </a:r>
            <a:r>
              <a:rPr lang="en-US" dirty="0"/>
              <a:t> in the dataset. Therefore, no imputation or removal of records was required.</a:t>
            </a:r>
            <a:br>
              <a:rPr lang="en-US" dirty="0"/>
            </a:br>
            <a:endParaRPr lang="en-US" dirty="0"/>
          </a:p>
          <a:p>
            <a:pPr marL="0" indent="0">
              <a:buNone/>
            </a:pPr>
            <a:endParaRPr lang="en-IN" dirty="0"/>
          </a:p>
        </p:txBody>
      </p:sp>
    </p:spTree>
    <p:extLst>
      <p:ext uri="{BB962C8B-B14F-4D97-AF65-F5344CB8AC3E}">
        <p14:creationId xmlns:p14="http://schemas.microsoft.com/office/powerpoint/2010/main" val="3268343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52769C5-037B-D0E7-9721-80578B3F7E82}"/>
              </a:ext>
            </a:extLst>
          </p:cNvPr>
          <p:cNvPicPr>
            <a:picLocks noGrp="1" noChangeAspect="1"/>
          </p:cNvPicPr>
          <p:nvPr>
            <p:ph idx="1"/>
          </p:nvPr>
        </p:nvPicPr>
        <p:blipFill>
          <a:blip r:embed="rId2"/>
          <a:stretch>
            <a:fillRect/>
          </a:stretch>
        </p:blipFill>
        <p:spPr>
          <a:xfrm>
            <a:off x="2256503" y="865239"/>
            <a:ext cx="7678993" cy="4680155"/>
          </a:xfrm>
          <a:prstGeom prst="rect">
            <a:avLst/>
          </a:prstGeom>
        </p:spPr>
      </p:pic>
    </p:spTree>
    <p:extLst>
      <p:ext uri="{BB962C8B-B14F-4D97-AF65-F5344CB8AC3E}">
        <p14:creationId xmlns:p14="http://schemas.microsoft.com/office/powerpoint/2010/main" val="12667500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F8C70A-1F1E-ECB9-6B61-8F995FD19774}"/>
              </a:ext>
            </a:extLst>
          </p:cNvPr>
          <p:cNvSpPr>
            <a:spLocks noGrp="1"/>
          </p:cNvSpPr>
          <p:nvPr>
            <p:ph idx="1"/>
          </p:nvPr>
        </p:nvSpPr>
        <p:spPr>
          <a:xfrm>
            <a:off x="157316" y="176980"/>
            <a:ext cx="11798710" cy="6469625"/>
          </a:xfrm>
        </p:spPr>
        <p:txBody>
          <a:bodyPr>
            <a:noAutofit/>
          </a:bodyPr>
          <a:lstStyle/>
          <a:p>
            <a:pPr marL="0" indent="0">
              <a:buNone/>
            </a:pPr>
            <a:r>
              <a:rPr lang="en-US" b="1" dirty="0"/>
              <a:t>Outlier Detection</a:t>
            </a:r>
          </a:p>
          <a:p>
            <a:pPr marL="0" indent="0">
              <a:buNone/>
            </a:pPr>
            <a:r>
              <a:rPr lang="en-US" dirty="0"/>
              <a:t>Outliers were analyzed using boxplots, particularly for the </a:t>
            </a:r>
            <a:r>
              <a:rPr lang="en-US" b="1" dirty="0" err="1"/>
              <a:t>AmountSpent</a:t>
            </a:r>
            <a:r>
              <a:rPr lang="en-US" dirty="0"/>
              <a:t> variable. The analysis indicated that transaction values were within acceptable ranges and no extreme outliers were detected. As a result, no outlier treatment was necessary.</a:t>
            </a:r>
          </a:p>
          <a:p>
            <a:pPr marL="0" indent="0">
              <a:buNone/>
            </a:pPr>
            <a:r>
              <a:rPr lang="en-US" b="1" dirty="0"/>
              <a:t>Encoding Categorical Variables </a:t>
            </a:r>
          </a:p>
          <a:p>
            <a:r>
              <a:rPr lang="en-US" dirty="0"/>
              <a:t>Machine learning algorithms require numerical input, so categorical variables such as:</a:t>
            </a:r>
          </a:p>
          <a:p>
            <a:r>
              <a:rPr lang="en-US" dirty="0"/>
              <a:t>Gender       </a:t>
            </a:r>
          </a:p>
          <a:p>
            <a:r>
              <a:rPr lang="en-US" dirty="0"/>
              <a:t>Marital Status </a:t>
            </a:r>
          </a:p>
          <a:p>
            <a:r>
              <a:rPr lang="en-US" dirty="0"/>
              <a:t>Income Level </a:t>
            </a:r>
          </a:p>
          <a:p>
            <a:r>
              <a:rPr lang="en-US" dirty="0"/>
              <a:t>Service Usage were transformed using </a:t>
            </a:r>
            <a:r>
              <a:rPr lang="en-US" b="1" dirty="0"/>
              <a:t>One-Hot Encoding</a:t>
            </a:r>
            <a:r>
              <a:rPr lang="en-US" dirty="0"/>
              <a:t>.</a:t>
            </a:r>
          </a:p>
          <a:p>
            <a:r>
              <a:rPr lang="en-US" dirty="0"/>
              <a:t>This method converts each category into a binary variable while preventing the model from assuming an ordinal relationship between categories.</a:t>
            </a:r>
          </a:p>
          <a:p>
            <a:endParaRPr lang="en-US" dirty="0"/>
          </a:p>
        </p:txBody>
      </p:sp>
      <p:pic>
        <p:nvPicPr>
          <p:cNvPr id="5" name="Picture 4">
            <a:extLst>
              <a:ext uri="{FF2B5EF4-FFF2-40B4-BE49-F238E27FC236}">
                <a16:creationId xmlns:a16="http://schemas.microsoft.com/office/drawing/2014/main" id="{60C3BBF7-9B63-14C7-8A10-332B90E4E757}"/>
              </a:ext>
            </a:extLst>
          </p:cNvPr>
          <p:cNvPicPr>
            <a:picLocks noChangeAspect="1"/>
          </p:cNvPicPr>
          <p:nvPr/>
        </p:nvPicPr>
        <p:blipFill>
          <a:blip r:embed="rId2"/>
          <a:stretch>
            <a:fillRect/>
          </a:stretch>
        </p:blipFill>
        <p:spPr>
          <a:xfrm>
            <a:off x="5114854" y="3834441"/>
            <a:ext cx="6511211" cy="826050"/>
          </a:xfrm>
          <a:prstGeom prst="rect">
            <a:avLst/>
          </a:prstGeom>
        </p:spPr>
      </p:pic>
    </p:spTree>
    <p:extLst>
      <p:ext uri="{BB962C8B-B14F-4D97-AF65-F5344CB8AC3E}">
        <p14:creationId xmlns:p14="http://schemas.microsoft.com/office/powerpoint/2010/main" val="1757945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5DE896-21E0-054D-1888-E9B47AAC47D9}"/>
              </a:ext>
            </a:extLst>
          </p:cNvPr>
          <p:cNvSpPr>
            <a:spLocks noGrp="1"/>
          </p:cNvSpPr>
          <p:nvPr>
            <p:ph idx="1"/>
          </p:nvPr>
        </p:nvSpPr>
        <p:spPr>
          <a:xfrm>
            <a:off x="211393" y="213851"/>
            <a:ext cx="11769213" cy="6430297"/>
          </a:xfrm>
        </p:spPr>
        <p:txBody>
          <a:bodyPr>
            <a:normAutofit/>
          </a:bodyPr>
          <a:lstStyle/>
          <a:p>
            <a:pPr marL="0" indent="0">
              <a:buNone/>
            </a:pPr>
            <a:r>
              <a:rPr lang="en-US" b="1" dirty="0"/>
              <a:t>Feature Scaling</a:t>
            </a:r>
          </a:p>
          <a:p>
            <a:r>
              <a:rPr lang="en-US" dirty="0"/>
              <a:t>To ensure that numerical features contribute equally to machine learning algorithms, feature scaling was applied.</a:t>
            </a:r>
          </a:p>
          <a:p>
            <a:pPr marL="0" indent="0">
              <a:buNone/>
            </a:pPr>
            <a:r>
              <a:rPr lang="en-US" dirty="0"/>
              <a:t>Numerical variables such as:</a:t>
            </a:r>
          </a:p>
          <a:p>
            <a:r>
              <a:rPr lang="en-US" dirty="0"/>
              <a:t>Age </a:t>
            </a:r>
          </a:p>
          <a:p>
            <a:r>
              <a:rPr lang="en-US" dirty="0"/>
              <a:t>Transaction Amount were standardized using </a:t>
            </a:r>
            <a:r>
              <a:rPr lang="en-US" b="1" dirty="0"/>
              <a:t>Standardization (Z-score scaling)</a:t>
            </a:r>
            <a:r>
              <a:rPr lang="en-US" dirty="0"/>
              <a:t> so that they have a mean of zero and a standard deviation of one.</a:t>
            </a:r>
          </a:p>
          <a:p>
            <a:r>
              <a:rPr lang="en-US" dirty="0"/>
              <a:t>This step improves model performance and prevents features with larger scales from dominating the learning process.</a:t>
            </a:r>
          </a:p>
          <a:p>
            <a:pPr marL="0" indent="0">
              <a:buNone/>
            </a:pPr>
            <a:endParaRPr lang="en-IN" dirty="0"/>
          </a:p>
        </p:txBody>
      </p:sp>
      <p:pic>
        <p:nvPicPr>
          <p:cNvPr id="6" name="Picture 5">
            <a:extLst>
              <a:ext uri="{FF2B5EF4-FFF2-40B4-BE49-F238E27FC236}">
                <a16:creationId xmlns:a16="http://schemas.microsoft.com/office/drawing/2014/main" id="{C97DDF26-D49F-2C45-F5F1-1BB653EB72C1}"/>
              </a:ext>
            </a:extLst>
          </p:cNvPr>
          <p:cNvPicPr>
            <a:picLocks noChangeAspect="1"/>
          </p:cNvPicPr>
          <p:nvPr/>
        </p:nvPicPr>
        <p:blipFill>
          <a:blip r:embed="rId2"/>
          <a:stretch>
            <a:fillRect/>
          </a:stretch>
        </p:blipFill>
        <p:spPr>
          <a:xfrm>
            <a:off x="1189703" y="4867547"/>
            <a:ext cx="9910916" cy="1776601"/>
          </a:xfrm>
          <a:prstGeom prst="rect">
            <a:avLst/>
          </a:prstGeom>
        </p:spPr>
      </p:pic>
    </p:spTree>
    <p:extLst>
      <p:ext uri="{BB962C8B-B14F-4D97-AF65-F5344CB8AC3E}">
        <p14:creationId xmlns:p14="http://schemas.microsoft.com/office/powerpoint/2010/main" val="1820923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475C4-3327-1B8B-0118-926A73344998}"/>
              </a:ext>
            </a:extLst>
          </p:cNvPr>
          <p:cNvSpPr>
            <a:spLocks noGrp="1"/>
          </p:cNvSpPr>
          <p:nvPr>
            <p:ph type="title"/>
          </p:nvPr>
        </p:nvSpPr>
        <p:spPr>
          <a:xfrm>
            <a:off x="3254476" y="365125"/>
            <a:ext cx="8099323" cy="1325563"/>
          </a:xfrm>
        </p:spPr>
        <p:txBody>
          <a:bodyPr>
            <a:normAutofit/>
          </a:bodyPr>
          <a:lstStyle/>
          <a:p>
            <a:r>
              <a:rPr lang="en-IN" sz="4800" b="1" dirty="0">
                <a:latin typeface="+mn-lt"/>
              </a:rPr>
              <a:t>Final Prepared Dataset</a:t>
            </a:r>
          </a:p>
        </p:txBody>
      </p:sp>
      <p:sp>
        <p:nvSpPr>
          <p:cNvPr id="3" name="Content Placeholder 2">
            <a:extLst>
              <a:ext uri="{FF2B5EF4-FFF2-40B4-BE49-F238E27FC236}">
                <a16:creationId xmlns:a16="http://schemas.microsoft.com/office/drawing/2014/main" id="{D516CCF7-6F0D-42B5-21B5-3342B4E69EE7}"/>
              </a:ext>
            </a:extLst>
          </p:cNvPr>
          <p:cNvSpPr>
            <a:spLocks noGrp="1"/>
          </p:cNvSpPr>
          <p:nvPr>
            <p:ph idx="1"/>
          </p:nvPr>
        </p:nvSpPr>
        <p:spPr/>
        <p:txBody>
          <a:bodyPr/>
          <a:lstStyle/>
          <a:p>
            <a:r>
              <a:rPr lang="en-US" dirty="0"/>
              <a:t>After completing the preprocessing steps, the final dataset contains:</a:t>
            </a:r>
          </a:p>
          <a:p>
            <a:r>
              <a:rPr lang="en-US" dirty="0"/>
              <a:t>Cleaned and standardized numerical variables </a:t>
            </a:r>
          </a:p>
          <a:p>
            <a:r>
              <a:rPr lang="en-US" dirty="0"/>
              <a:t>Encoded categorical variables </a:t>
            </a:r>
          </a:p>
          <a:p>
            <a:r>
              <a:rPr lang="en-US" dirty="0"/>
              <a:t>Aggregated transaction data </a:t>
            </a:r>
          </a:p>
          <a:p>
            <a:r>
              <a:rPr lang="en-US" dirty="0"/>
              <a:t>Customer churn status </a:t>
            </a:r>
          </a:p>
          <a:p>
            <a:r>
              <a:rPr lang="en-US" dirty="0"/>
              <a:t>Each row in the dataset represents a single customer, making it suitable for training machine learning models.</a:t>
            </a:r>
          </a:p>
          <a:p>
            <a:r>
              <a:rPr lang="en-US" dirty="0"/>
              <a:t>The prepared dataset is now ready to be used for predictive modeling to identify customers who are at risk of churning.</a:t>
            </a:r>
          </a:p>
          <a:p>
            <a:pPr marL="0" indent="0">
              <a:buNone/>
            </a:pPr>
            <a:endParaRPr lang="en-IN" dirty="0"/>
          </a:p>
        </p:txBody>
      </p:sp>
    </p:spTree>
    <p:extLst>
      <p:ext uri="{BB962C8B-B14F-4D97-AF65-F5344CB8AC3E}">
        <p14:creationId xmlns:p14="http://schemas.microsoft.com/office/powerpoint/2010/main" val="2114575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BD9DD-0216-69CE-1199-6B72A2B5C397}"/>
              </a:ext>
            </a:extLst>
          </p:cNvPr>
          <p:cNvSpPr>
            <a:spLocks noGrp="1"/>
          </p:cNvSpPr>
          <p:nvPr>
            <p:ph type="title"/>
          </p:nvPr>
        </p:nvSpPr>
        <p:spPr>
          <a:xfrm>
            <a:off x="4129548" y="365125"/>
            <a:ext cx="7224252" cy="1325563"/>
          </a:xfrm>
        </p:spPr>
        <p:txBody>
          <a:bodyPr>
            <a:normAutofit/>
          </a:bodyPr>
          <a:lstStyle/>
          <a:p>
            <a:r>
              <a:rPr lang="en-IN" sz="4800" b="1" dirty="0">
                <a:latin typeface="+mn-lt"/>
              </a:rPr>
              <a:t>Conclusion</a:t>
            </a:r>
          </a:p>
        </p:txBody>
      </p:sp>
      <p:sp>
        <p:nvSpPr>
          <p:cNvPr id="3" name="Content Placeholder 2">
            <a:extLst>
              <a:ext uri="{FF2B5EF4-FFF2-40B4-BE49-F238E27FC236}">
                <a16:creationId xmlns:a16="http://schemas.microsoft.com/office/drawing/2014/main" id="{80D5A7DA-E152-1C3B-4CDA-016A8E7E57D0}"/>
              </a:ext>
            </a:extLst>
          </p:cNvPr>
          <p:cNvSpPr>
            <a:spLocks noGrp="1"/>
          </p:cNvSpPr>
          <p:nvPr>
            <p:ph idx="1"/>
          </p:nvPr>
        </p:nvSpPr>
        <p:spPr/>
        <p:txBody>
          <a:bodyPr>
            <a:normAutofit lnSpcReduction="10000"/>
          </a:bodyPr>
          <a:lstStyle/>
          <a:p>
            <a:r>
              <a:rPr lang="en-US" dirty="0"/>
              <a:t>This task involved gathering and preparing data for customer churn prediction. Multiple datasets were integrated to capture different aspects of customer behavior, including demographics, financial activity, digital engagement, and customer service interactions.</a:t>
            </a:r>
          </a:p>
          <a:p>
            <a:r>
              <a:rPr lang="en-US" dirty="0"/>
              <a:t>Exploratory data analysis revealed important patterns, such as the relationship between login frequency and customer churn. Data cleaning and preprocessing steps ensured that the dataset is structured, consistent, and suitable for machine learning algorithms.</a:t>
            </a:r>
          </a:p>
          <a:p>
            <a:r>
              <a:rPr lang="en-US" dirty="0"/>
              <a:t>The final dataset provides a solid foundation for building predictive models that can help the bank identify customers at risk of churn and implement targeted retention strategies.</a:t>
            </a:r>
          </a:p>
          <a:p>
            <a:pPr marL="0" indent="0">
              <a:buNone/>
            </a:pPr>
            <a:endParaRPr lang="en-IN" dirty="0"/>
          </a:p>
        </p:txBody>
      </p:sp>
    </p:spTree>
    <p:extLst>
      <p:ext uri="{BB962C8B-B14F-4D97-AF65-F5344CB8AC3E}">
        <p14:creationId xmlns:p14="http://schemas.microsoft.com/office/powerpoint/2010/main" val="13240929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1172</Words>
  <Application>Microsoft Office PowerPoint</Application>
  <PresentationFormat>Widescreen</PresentationFormat>
  <Paragraphs>69</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Customer Churn Data Analysis Report</vt:lpstr>
      <vt:lpstr>Introduction</vt:lpstr>
      <vt:lpstr>Data Gathering and Data Sources</vt:lpstr>
      <vt:lpstr>PowerPoint Presentation</vt:lpstr>
      <vt:lpstr>PowerPoint Presentation</vt:lpstr>
      <vt:lpstr>PowerPoint Presentation</vt:lpstr>
      <vt:lpstr>Data Integration</vt:lpstr>
      <vt:lpstr>PowerPoint Presentation</vt:lpstr>
      <vt:lpstr>Exploratory Data Analysis (EDA)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Cleaning and Preprocessing</vt:lpstr>
      <vt:lpstr>PowerPoint Presentation</vt:lpstr>
      <vt:lpstr>PowerPoint Presentation</vt:lpstr>
      <vt:lpstr>PowerPoint Presentation</vt:lpstr>
      <vt:lpstr>Final Prepared Dataset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sahil guleria</dc:creator>
  <cp:lastModifiedBy>sahil guleria</cp:lastModifiedBy>
  <cp:revision>1</cp:revision>
  <dcterms:created xsi:type="dcterms:W3CDTF">2026-03-25T13:24:46Z</dcterms:created>
  <dcterms:modified xsi:type="dcterms:W3CDTF">2026-03-25T13:39:58Z</dcterms:modified>
</cp:coreProperties>
</file>